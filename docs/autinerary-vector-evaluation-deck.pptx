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time we showed data volume without evaluation depth. This revision also corrects a counting bug from this morning's draft and folds in Odosa's review — both are called out explicitly, not quietly fixed.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anything else: two corrections to what went out this morning.</a:t>
            </a:r>
          </a:p>
          <a:p/>
          <a:p>
            <a:r>
              <a:t>One, the user counts were wrong because of a bug in our own query — it only ever looked at the fifty most recent accounts. The real total is 339, not 50. Seventy of those are real organic signups, not forty-one. And the two hundred fifty synthetic seed accounts we said were gone were never gone — they were just outside the window the broken query could see.</a:t>
            </a:r>
          </a:p>
          <a:p/>
          <a:p>
            <a:r>
              <a:t>Two — and this is the one to really sit with — the data integrity problem we flagged this morning, the eighty-eight completed milestones and the ratings that supposedly pointed at deleted accounts, was the same bug. It was not a real problem. We are retracting that finding outright, not softening it. Every one of those rows belongs to a real, currently-existing account.</a:t>
            </a:r>
          </a:p>
          <a:p/>
          <a:p>
            <a:r>
              <a:t>We're leading with this because the whole point of this deck is not presenting a number we can't explain — and that includes our own mistakes.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agents, same rule: confidence is derived from real signal in that run, never a flat constant, and zero signal is reported as zero.</a:t>
            </a:r>
          </a:p>
          <a:p/>
          <a:p>
            <a:r>
              <a:t>One addition this time: for every formula, we're now explicit about where the actual numbers inside it come from. Most of them are engineering judgment calls — a floor here, a scaling weight there — not something fitted to real outcome data, because we don't have enough labelled outcomes to fit them yet. Saying that plainly is better than letting a formula look more precise than it 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Odosa: should this extend to milestone- and path-level user ratings, like Tool Recommendation already has? Tool Recommendation has tool_outcomes (reflection-derived reward per tool+barrier). Path Planning's path_planning_outcomes is whole-profile only -- NOTHING rates one milestone against the barrier it targeted, or rolls that up into a path-level score (e.g. 7/14 milestones useful = half a path's value). Real, buildable gap, same pattern as tool_outcomes.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Odosa: should users confirm whether the returned group actually looks similar to them? Yes -- nothing like that exists today. Only indirect signal via reflections. Would need new instrumentation, same outcome-table pattern as tool_outcomes / adaptation_outcomes.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Odosa: does this (or any agent) consider PEOPLE — mentors, role models, friends, rivals? NO. The connections table exists in the schema and is fully modelled — no agent in either system reads it. Real, clean gap. Whether to build a combined "Tool &amp; People Recommendation Agent" or just wire connections into this one's scoring is a real design choice, not something to default into.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Odosa asked us to make the ground truth here more legible, so in plain terms: this agent is not judged on whether it emptied your whole to-do list. It's judged on whether the WEEK it built makes sense -- a reasonable amount each day, nothing crammed, nothing empty for no reason. A schedule that forced eighty tasks into seven days would look more complete and would actually be worse for the person using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number in this formula is a judgment call, not a measurement -- sixty words as 'a real reflection,' three patterns as 'plenty of signal,' and the weighting between the two. None of it has been tested against whether it actually predicts anything real yet.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Odosa: this is weak — firing more adaptations isn't evidence they worked. Correct, and sharper than our own framing. Her fix: explicit yes/no when suggested, re-ask after a week if it helped, score both. Maps directly onto the unused adaptation_outcomes table — needs (1) writes turned on, (2) an explicit prompt added alongside the passive reflection signal.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Presenting six agents without these four would be presenting half the product. ResourceHub has its own recommendation, pattern, validation and synthesis agents, running on the same database but otherwise fully separate.</a:t>
            </a:r>
          </a:p>
          <a:p/>
          <a:p>
            <a:r>
              <a:t>The finding here is calmer than what we said this morning: those five hundred nineteen ratings aren't orphaned or broken. They all belong to our own test personas — that's seed data working exactly as intended. The real gap is just that zero of them are from an actual person using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people/mentors question as Tool Recommendation: no, this agent doesn't read the connections table either.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directly answers the question raised for today: is there an agent that finds overarching patterns, between groups and within groups, unsupervised, rather than one person at a time?</a:t>
            </a:r>
          </a:p>
          <a:p/>
          <a:p>
            <a:r>
              <a:t>Partially, and only here, on the ResourceHub side. This agent does look at the whole population: which conditions cluster together, which resources tend to get liked by the same people, which barrier types over-index on a given resource. All unsupervised, all population-level.</a:t>
            </a:r>
          </a:p>
          <a:p/>
          <a:p>
            <a:r>
              <a:t>What it does not do, and this matters: it doesn't compare named groups against each other — Autism community versus an ethnic community, for instance — and it cannot compare diagnosis subtypes, Level 1 against Level 3, because that subtype detail is deliberately stripped out before any agent ever sees it. That's a real privacy boundary we built on purpose. Turning it on for this would be a considered decision, not a small change, and it should be made explicitly rather than as a side effect.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show you the formula and the thresholds. We cannot yet show you how often this agent was right, because the table that would let us check has zero rows in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gets its own slide because it's a genuinely different kind of thing to evaluate. It doesn't have its own ground truth — it's only as good as the three agents feeding it. Every gap we just walked through upstream is also a gap 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Pulling all nine agents together: most already compute an honest confidence score from real signal, or have the infrastructure sitting there ready to. The gap is mostly queries we haven't run and wiring we haven't turned on, not new research.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thing we need a steer on: October timing. We can go out as a waitlist and feature demo for Autism Awareness Month without waiting on full compliance, or we hold the public launch until the data-compliance work is done. This is sharper for ResourceHub than for Autinerary's planning agents — a rating system that scores something like autism-friendliness is closer to the line Malikeh flagged around medical device classification. That's a call this group needs to make with 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20240"/>
            <a:ext cx="10332720" cy="1097280"/>
          </a:xfrm>
          <a:prstGeom prst="rect">
            <a:avLst/>
          </a:prstGeom>
          <a:noFill/>
        </p:spPr>
        <p:txBody>
          <a:bodyPr wrap="square">
            <a:spAutoFit/>
          </a:bodyPr>
          <a:lstStyle/>
          <a:p>
            <a:pPr algn="l">
              <a:spcAft>
                <a:spcPts val="600"/>
              </a:spcAft>
            </a:pPr>
            <a:r>
              <a:rPr sz="4200" b="1">
                <a:solidFill>
                  <a:srgbClr val="FFFFFF"/>
                </a:solidFill>
                <a:latin typeface="Helvetica Neue"/>
              </a:rPr>
              <a:t>Agent Evaluation &amp; Data Gap Analysis</a:t>
            </a:r>
          </a:p>
        </p:txBody>
      </p:sp>
      <p:sp>
        <p:nvSpPr>
          <p:cNvPr id="4" name="TextBox 3"/>
          <p:cNvSpPr txBox="1"/>
          <p:nvPr/>
        </p:nvSpPr>
        <p:spPr>
          <a:xfrm>
            <a:off x="914400" y="2880360"/>
            <a:ext cx="10332720" cy="822960"/>
          </a:xfrm>
          <a:prstGeom prst="rect">
            <a:avLst/>
          </a:prstGeom>
          <a:noFill/>
        </p:spPr>
        <p:txBody>
          <a:bodyPr wrap="square">
            <a:spAutoFit/>
          </a:bodyPr>
          <a:lstStyle/>
          <a:p>
            <a:pPr algn="l">
              <a:spcAft>
                <a:spcPts val="600"/>
              </a:spcAft>
            </a:pPr>
            <a:r>
              <a:rPr sz="2000" b="0">
                <a:solidFill>
                  <a:srgbClr val="CCFBF1"/>
                </a:solidFill>
                <a:latin typeface="Helvetica Neue"/>
              </a:rPr>
              <a:t>Ground truths, label distributions, and confidence formulas for all six agents</a:t>
            </a:r>
          </a:p>
        </p:txBody>
      </p:sp>
      <p:sp>
        <p:nvSpPr>
          <p:cNvPr id="5" name="TextBox 4"/>
          <p:cNvSpPr txBox="1"/>
          <p:nvPr/>
        </p:nvSpPr>
        <p:spPr>
          <a:xfrm>
            <a:off x="914400" y="5120640"/>
            <a:ext cx="10332720" cy="457200"/>
          </a:xfrm>
          <a:prstGeom prst="rect">
            <a:avLst/>
          </a:prstGeom>
          <a:noFill/>
        </p:spPr>
        <p:txBody>
          <a:bodyPr wrap="square">
            <a:spAutoFit/>
          </a:bodyPr>
          <a:lstStyle/>
          <a:p>
            <a:pPr algn="l">
              <a:spcAft>
                <a:spcPts val="600"/>
              </a:spcAft>
            </a:pPr>
            <a:r>
              <a:rPr sz="1400" b="0">
                <a:solidFill>
                  <a:srgbClr val="99F6E4"/>
                </a:solidFill>
                <a:latin typeface="Helvetica Neue"/>
              </a:rPr>
              <a:t>Vector / Darmond Follow-Up  ·  September 2026  ·  Internal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HOUSEKEEPING</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Real user numbers, corrected</a:t>
            </a:r>
          </a:p>
        </p:txBody>
      </p:sp>
      <p:graphicFrame>
        <p:nvGraphicFramePr>
          <p:cNvPr id="5" name="Table 4"/>
          <p:cNvGraphicFramePr>
            <a:graphicFrameLocks noGrp="1"/>
          </p:cNvGraphicFramePr>
          <p:nvPr/>
        </p:nvGraphicFramePr>
        <p:xfrm>
          <a:off x="548640" y="1371600"/>
          <a:ext cx="11064240" cy="1920240"/>
        </p:xfrm>
        <a:graphic>
          <a:graphicData uri="http://schemas.openxmlformats.org/drawingml/2006/table">
            <a:tbl>
              <a:tblPr firstRow="1" bandRow="1">
                <a:tableStyleId>{5C22544A-7EE6-4342-B048-85BDC9FD1C3A}</a:tableStyleId>
              </a:tblPr>
              <a:tblGrid>
                <a:gridCol w="3383280"/>
                <a:gridCol w="3840480"/>
                <a:gridCol w="3840480"/>
              </a:tblGrid>
              <a:tr h="384048">
                <a:tc>
                  <a:txBody>
                    <a:bodyPr/>
                    <a:lstStyle/>
                    <a:p/>
                  </a:txBody>
                  <a:tcPr>
                    <a:solidFill>
                      <a:srgbClr val="0F766E"/>
                    </a:solidFill>
                  </a:tcPr>
                </a:tc>
                <a:tc>
                  <a:txBody>
                    <a:bodyPr/>
                    <a:lstStyle/>
                    <a:p>
                      <a:r>
                        <a:rPr sz="1400" b="1">
                          <a:solidFill>
                            <a:srgbClr val="FFFFFF"/>
                          </a:solidFill>
                        </a:rPr>
                        <a:t>Morning draft (wrong)</a:t>
                      </a:r>
                    </a:p>
                  </a:txBody>
                  <a:tcPr>
                    <a:solidFill>
                      <a:srgbClr val="0F766E"/>
                    </a:solidFill>
                  </a:tcPr>
                </a:tc>
                <a:tc>
                  <a:txBody>
                    <a:bodyPr/>
                    <a:lstStyle/>
                    <a:p>
                      <a:r>
                        <a:rPr sz="1400" b="1">
                          <a:solidFill>
                            <a:srgbClr val="FFFFFF"/>
                          </a:solidFill>
                        </a:rPr>
                        <a:t>Corrected</a:t>
                      </a:r>
                    </a:p>
                  </a:txBody>
                  <a:tcPr>
                    <a:solidFill>
                      <a:srgbClr val="0F766E"/>
                    </a:solidFill>
                  </a:tcPr>
                </a:tc>
              </a:tr>
              <a:tr h="384048">
                <a:tc>
                  <a:txBody>
                    <a:bodyPr/>
                    <a:lstStyle/>
                    <a:p>
                      <a:r>
                        <a:rPr sz="1400">
                          <a:solidFill>
                            <a:srgbClr val="0F172A"/>
                          </a:solidFill>
                        </a:rPr>
                        <a:t>Total accounts</a:t>
                      </a:r>
                    </a:p>
                  </a:txBody>
                  <a:tcPr>
                    <a:solidFill>
                      <a:srgbClr val="FFFFFF"/>
                    </a:solidFill>
                  </a:tcPr>
                </a:tc>
                <a:tc>
                  <a:txBody>
                    <a:bodyPr/>
                    <a:lstStyle/>
                    <a:p>
                      <a:r>
                        <a:rPr sz="1400">
                          <a:solidFill>
                            <a:srgbClr val="0F172A"/>
                          </a:solidFill>
                        </a:rPr>
                        <a:t>50</a:t>
                      </a:r>
                    </a:p>
                  </a:txBody>
                  <a:tcPr>
                    <a:solidFill>
                      <a:srgbClr val="FFFFFF"/>
                    </a:solidFill>
                  </a:tcPr>
                </a:tc>
                <a:tc>
                  <a:txBody>
                    <a:bodyPr/>
                    <a:lstStyle/>
                    <a:p>
                      <a:r>
                        <a:rPr sz="1400">
                          <a:solidFill>
                            <a:srgbClr val="0F172A"/>
                          </a:solidFill>
                        </a:rPr>
                        <a:t>339</a:t>
                      </a:r>
                    </a:p>
                  </a:txBody>
                  <a:tcPr>
                    <a:solidFill>
                      <a:srgbClr val="FFFFFF"/>
                    </a:solidFill>
                  </a:tcPr>
                </a:tc>
              </a:tr>
              <a:tr h="384048">
                <a:tc>
                  <a:txBody>
                    <a:bodyPr/>
                    <a:lstStyle/>
                    <a:p>
                      <a:r>
                        <a:rPr sz="1400">
                          <a:solidFill>
                            <a:srgbClr val="0F172A"/>
                          </a:solidFill>
                        </a:rPr>
                        <a:t>Real signups</a:t>
                      </a:r>
                    </a:p>
                  </a:txBody>
                  <a:tcPr>
                    <a:solidFill>
                      <a:srgbClr val="F0FDFA"/>
                    </a:solidFill>
                  </a:tcPr>
                </a:tc>
                <a:tc>
                  <a:txBody>
                    <a:bodyPr/>
                    <a:lstStyle/>
                    <a:p>
                      <a:r>
                        <a:rPr sz="1400">
                          <a:solidFill>
                            <a:srgbClr val="0F172A"/>
                          </a:solidFill>
                        </a:rPr>
                        <a:t>41</a:t>
                      </a:r>
                    </a:p>
                  </a:txBody>
                  <a:tcPr>
                    <a:solidFill>
                      <a:srgbClr val="F0FDFA"/>
                    </a:solidFill>
                  </a:tcPr>
                </a:tc>
                <a:tc>
                  <a:txBody>
                    <a:bodyPr/>
                    <a:lstStyle/>
                    <a:p>
                      <a:r>
                        <a:rPr sz="1400">
                          <a:solidFill>
                            <a:srgbClr val="0F172A"/>
                          </a:solidFill>
                        </a:rPr>
                        <a:t>70</a:t>
                      </a:r>
                    </a:p>
                  </a:txBody>
                  <a:tcPr>
                    <a:solidFill>
                      <a:srgbClr val="F0FDFA"/>
                    </a:solidFill>
                  </a:tcPr>
                </a:tc>
              </a:tr>
              <a:tr h="384048">
                <a:tc>
                  <a:txBody>
                    <a:bodyPr/>
                    <a:lstStyle/>
                    <a:p>
                      <a:r>
                        <a:rPr sz="1400">
                          <a:solidFill>
                            <a:srgbClr val="0F172A"/>
                          </a:solidFill>
                        </a:rPr>
                        <a:t>Team / QA / dev test</a:t>
                      </a:r>
                    </a:p>
                  </a:txBody>
                  <a:tcPr>
                    <a:solidFill>
                      <a:srgbClr val="FFFFFF"/>
                    </a:solidFill>
                  </a:tcPr>
                </a:tc>
                <a:tc>
                  <a:txBody>
                    <a:bodyPr/>
                    <a:lstStyle/>
                    <a:p>
                      <a:r>
                        <a:rPr sz="1400">
                          <a:solidFill>
                            <a:srgbClr val="0F172A"/>
                          </a:solidFill>
                        </a:rPr>
                        <a:t>9</a:t>
                      </a:r>
                    </a:p>
                  </a:txBody>
                  <a:tcPr>
                    <a:solidFill>
                      <a:srgbClr val="FFFFFF"/>
                    </a:solidFill>
                  </a:tcPr>
                </a:tc>
                <a:tc>
                  <a:txBody>
                    <a:bodyPr/>
                    <a:lstStyle/>
                    <a:p>
                      <a:r>
                        <a:rPr sz="1400">
                          <a:solidFill>
                            <a:srgbClr val="0F172A"/>
                          </a:solidFill>
                        </a:rPr>
                        <a:t>19</a:t>
                      </a:r>
                    </a:p>
                  </a:txBody>
                  <a:tcPr>
                    <a:solidFill>
                      <a:srgbClr val="FFFFFF"/>
                    </a:solidFill>
                  </a:tcPr>
                </a:tc>
              </a:tr>
              <a:tr h="384048">
                <a:tc>
                  <a:txBody>
                    <a:bodyPr/>
                    <a:lstStyle/>
                    <a:p>
                      <a:r>
                        <a:rPr sz="1400">
                          <a:solidFill>
                            <a:srgbClr val="0F172A"/>
                          </a:solidFill>
                        </a:rPr>
                        <a:t>Synthetic seed accounts</a:t>
                      </a:r>
                    </a:p>
                  </a:txBody>
                  <a:tcPr>
                    <a:solidFill>
                      <a:srgbClr val="F0FDFA"/>
                    </a:solidFill>
                  </a:tcPr>
                </a:tc>
                <a:tc>
                  <a:txBody>
                    <a:bodyPr/>
                    <a:lstStyle/>
                    <a:p>
                      <a:r>
                        <a:rPr sz="1400">
                          <a:solidFill>
                            <a:srgbClr val="0F172A"/>
                          </a:solidFill>
                        </a:rPr>
                        <a:t>0</a:t>
                      </a:r>
                    </a:p>
                  </a:txBody>
                  <a:tcPr>
                    <a:solidFill>
                      <a:srgbClr val="F0FDFA"/>
                    </a:solidFill>
                  </a:tcPr>
                </a:tc>
                <a:tc>
                  <a:txBody>
                    <a:bodyPr/>
                    <a:lstStyle/>
                    <a:p>
                      <a:r>
                        <a:rPr sz="1400">
                          <a:solidFill>
                            <a:srgbClr val="0F172A"/>
                          </a:solidFill>
                        </a:rPr>
                        <a:t>250</a:t>
                      </a:r>
                    </a:p>
                  </a:txBody>
                  <a:tcPr>
                    <a:solidFill>
                      <a:srgbClr val="F0FDFA"/>
                    </a:solidFill>
                  </a:tcPr>
                </a:tc>
              </a:tr>
            </a:tbl>
          </a:graphicData>
        </a:graphic>
      </p:graphicFrame>
      <p:sp>
        <p:nvSpPr>
          <p:cNvPr id="6" name="Rectangle 5"/>
          <p:cNvSpPr/>
          <p:nvPr/>
        </p:nvSpPr>
        <p:spPr>
          <a:xfrm>
            <a:off x="548640" y="3200400"/>
            <a:ext cx="11064240" cy="1005840"/>
          </a:xfrm>
          <a:prstGeom prst="rect">
            <a:avLst/>
          </a:prstGeom>
          <a:solidFill>
            <a:srgbClr val="FFFBEB"/>
          </a:solidFill>
          <a:ln w="1587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78350F"/>
                </a:solidFill>
                <a:latin typeface="Helvetica Neue"/>
              </a:rPr>
              <a:t>This morning's script only ever read the 50 most-recently-created accounts. The synthetic seed cohort (250 users, all created in one batch on July 12) was never gone — it was outside the window the broken query could see.</a:t>
            </a:r>
          </a:p>
        </p:txBody>
      </p:sp>
      <p:sp>
        <p:nvSpPr>
          <p:cNvPr id="7" name="Rectangle 6"/>
          <p:cNvSpPr/>
          <p:nvPr/>
        </p:nvSpPr>
        <p:spPr>
          <a:xfrm>
            <a:off x="548640" y="4343400"/>
            <a:ext cx="11064240" cy="777240"/>
          </a:xfrm>
          <a:prstGeom prst="rect">
            <a:avLst/>
          </a:prstGeom>
          <a:solidFill>
            <a:srgbClr val="F0FDFA"/>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0F766E"/>
                </a:solidFill>
                <a:latin typeface="Helvetica Neue"/>
              </a:rPr>
              <a:t>The recent cluster of real signups (~60 in Sept 8-17) is Riipen-sourced — confirmed, not an open question.</a:t>
            </a:r>
          </a:p>
        </p:txBody>
      </p:sp>
      <p:sp>
        <p:nvSpPr>
          <p:cNvPr id="8" name="Rectangle 7"/>
          <p:cNvSpPr/>
          <p:nvPr/>
        </p:nvSpPr>
        <p:spPr>
          <a:xfrm>
            <a:off x="548640" y="5257800"/>
            <a:ext cx="11064240" cy="1234440"/>
          </a:xfrm>
          <a:prstGeom prst="rect">
            <a:avLst/>
          </a:prstGeom>
          <a:solidFill>
            <a:srgbClr val="FEF2F2"/>
          </a:solidFill>
          <a:ln w="15875">
            <a:solidFill>
              <a:srgbClr val="9F1D1D"/>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9F1D1D"/>
                </a:solidFill>
                <a:latin typeface="Helvetica Neue"/>
              </a:rPr>
              <a:t>RETRACTED: this morning's deck said 88 completed-milestone rows and 515/519 ratings pointed at nonexistent accounts. That was the same counting bug, not a real problem — every one of those rows matches a real account once the full list is read. Retracted, not softened.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FRAMEWORK</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Six agents, one honesty rule</a:t>
            </a:r>
          </a:p>
        </p:txBody>
      </p:sp>
      <p:graphicFrame>
        <p:nvGraphicFramePr>
          <p:cNvPr id="5" name="Table 4"/>
          <p:cNvGraphicFramePr>
            <a:graphicFrameLocks noGrp="1"/>
          </p:cNvGraphicFramePr>
          <p:nvPr/>
        </p:nvGraphicFramePr>
        <p:xfrm>
          <a:off x="548640" y="1371600"/>
          <a:ext cx="11064239" cy="2560320"/>
        </p:xfrm>
        <a:graphic>
          <a:graphicData uri="http://schemas.openxmlformats.org/drawingml/2006/table">
            <a:tbl>
              <a:tblPr firstRow="1" bandRow="1">
                <a:tableStyleId>{5C22544A-7EE6-4342-B048-85BDC9FD1C3A}</a:tableStyleId>
              </a:tblPr>
              <a:tblGrid>
                <a:gridCol w="3108960"/>
                <a:gridCol w="7955279"/>
              </a:tblGrid>
              <a:tr h="365760">
                <a:tc>
                  <a:txBody>
                    <a:bodyPr/>
                    <a:lstStyle/>
                    <a:p>
                      <a:r>
                        <a:rPr sz="1300" b="1">
                          <a:solidFill>
                            <a:srgbClr val="FFFFFF"/>
                          </a:solidFill>
                        </a:rPr>
                        <a:t>Agent</a:t>
                      </a:r>
                    </a:p>
                  </a:txBody>
                  <a:tcPr>
                    <a:solidFill>
                      <a:srgbClr val="0F766E"/>
                    </a:solidFill>
                  </a:tcPr>
                </a:tc>
                <a:tc>
                  <a:txBody>
                    <a:bodyPr/>
                    <a:lstStyle/>
                    <a:p>
                      <a:r>
                        <a:rPr sz="1300" b="1">
                          <a:solidFill>
                            <a:srgbClr val="FFFFFF"/>
                          </a:solidFill>
                        </a:rPr>
                        <a:t>Job</a:t>
                      </a:r>
                    </a:p>
                  </a:txBody>
                  <a:tcPr>
                    <a:solidFill>
                      <a:srgbClr val="0F766E"/>
                    </a:solidFill>
                  </a:tcPr>
                </a:tc>
              </a:tr>
              <a:tr h="365760">
                <a:tc>
                  <a:txBody>
                    <a:bodyPr/>
                    <a:lstStyle/>
                    <a:p>
                      <a:r>
                        <a:rPr sz="1300">
                          <a:solidFill>
                            <a:srgbClr val="0F172A"/>
                          </a:solidFill>
                        </a:rPr>
                        <a:t>Path Planning</a:t>
                      </a:r>
                    </a:p>
                  </a:txBody>
                  <a:tcPr>
                    <a:solidFill>
                      <a:srgbClr val="FFFFFF"/>
                    </a:solidFill>
                  </a:tcPr>
                </a:tc>
                <a:tc>
                  <a:txBody>
                    <a:bodyPr/>
                    <a:lstStyle/>
                    <a:p>
                      <a:r>
                        <a:rPr sz="1300">
                          <a:solidFill>
                            <a:srgbClr val="0F172A"/>
                          </a:solidFill>
                        </a:rPr>
                        <a:t>Builds the milestone plan for a user's goals</a:t>
                      </a:r>
                    </a:p>
                  </a:txBody>
                  <a:tcPr>
                    <a:solidFill>
                      <a:srgbClr val="FFFFFF"/>
                    </a:solidFill>
                  </a:tcPr>
                </a:tc>
              </a:tr>
              <a:tr h="365760">
                <a:tc>
                  <a:txBody>
                    <a:bodyPr/>
                    <a:lstStyle/>
                    <a:p>
                      <a:r>
                        <a:rPr sz="1300">
                          <a:solidFill>
                            <a:srgbClr val="0F172A"/>
                          </a:solidFill>
                        </a:rPr>
                        <a:t>Pattern Recognition</a:t>
                      </a:r>
                    </a:p>
                  </a:txBody>
                  <a:tcPr>
                    <a:solidFill>
                      <a:srgbClr val="F0FDFA"/>
                    </a:solidFill>
                  </a:tcPr>
                </a:tc>
                <a:tc>
                  <a:txBody>
                    <a:bodyPr/>
                    <a:lstStyle/>
                    <a:p>
                      <a:r>
                        <a:rPr sz="1300">
                          <a:solidFill>
                            <a:srgbClr val="0F172A"/>
                          </a:solidFill>
                        </a:rPr>
                        <a:t>Finds similar users, surfaces what worked for them</a:t>
                      </a:r>
                    </a:p>
                  </a:txBody>
                  <a:tcPr>
                    <a:solidFill>
                      <a:srgbClr val="F0FDFA"/>
                    </a:solidFill>
                  </a:tcPr>
                </a:tc>
              </a:tr>
              <a:tr h="365760">
                <a:tc>
                  <a:txBody>
                    <a:bodyPr/>
                    <a:lstStyle/>
                    <a:p>
                      <a:r>
                        <a:rPr sz="1300">
                          <a:solidFill>
                            <a:srgbClr val="0F172A"/>
                          </a:solidFill>
                        </a:rPr>
                        <a:t>Tool Recommendation</a:t>
                      </a:r>
                    </a:p>
                  </a:txBody>
                  <a:tcPr>
                    <a:solidFill>
                      <a:srgbClr val="FFFFFF"/>
                    </a:solidFill>
                  </a:tcPr>
                </a:tc>
                <a:tc>
                  <a:txBody>
                    <a:bodyPr/>
                    <a:lstStyle/>
                    <a:p>
                      <a:r>
                        <a:rPr sz="1300">
                          <a:solidFill>
                            <a:srgbClr val="0F172A"/>
                          </a:solidFill>
                        </a:rPr>
                        <a:t>Matches resources to a milestone's barriers</a:t>
                      </a:r>
                    </a:p>
                  </a:txBody>
                  <a:tcPr>
                    <a:solidFill>
                      <a:srgbClr val="FFFFFF"/>
                    </a:solidFill>
                  </a:tcPr>
                </a:tc>
              </a:tr>
              <a:tr h="365760">
                <a:tc>
                  <a:txBody>
                    <a:bodyPr/>
                    <a:lstStyle/>
                    <a:p>
                      <a:r>
                        <a:rPr sz="1300">
                          <a:solidFill>
                            <a:srgbClr val="0F172A"/>
                          </a:solidFill>
                        </a:rPr>
                        <a:t>Calendar Optimization</a:t>
                      </a:r>
                    </a:p>
                  </a:txBody>
                  <a:tcPr>
                    <a:solidFill>
                      <a:srgbClr val="F0FDFA"/>
                    </a:solidFill>
                  </a:tcPr>
                </a:tc>
                <a:tc>
                  <a:txBody>
                    <a:bodyPr/>
                    <a:lstStyle/>
                    <a:p>
                      <a:r>
                        <a:rPr sz="1300">
                          <a:solidFill>
                            <a:srgbClr val="0F172A"/>
                          </a:solidFill>
                        </a:rPr>
                        <a:t>Places tasks into a barrier-aware weekly schedule</a:t>
                      </a:r>
                    </a:p>
                  </a:txBody>
                  <a:tcPr>
                    <a:solidFill>
                      <a:srgbClr val="F0FDFA"/>
                    </a:solidFill>
                  </a:tcPr>
                </a:tc>
              </a:tr>
              <a:tr h="365760">
                <a:tc>
                  <a:txBody>
                    <a:bodyPr/>
                    <a:lstStyle/>
                    <a:p>
                      <a:r>
                        <a:rPr sz="1300">
                          <a:solidFill>
                            <a:srgbClr val="0F172A"/>
                          </a:solidFill>
                        </a:rPr>
                        <a:t>Reflection Analysis</a:t>
                      </a:r>
                    </a:p>
                  </a:txBody>
                  <a:tcPr>
                    <a:solidFill>
                      <a:srgbClr val="FFFFFF"/>
                    </a:solidFill>
                  </a:tcPr>
                </a:tc>
                <a:tc>
                  <a:txBody>
                    <a:bodyPr/>
                    <a:lstStyle/>
                    <a:p>
                      <a:r>
                        <a:rPr sz="1300">
                          <a:solidFill>
                            <a:srgbClr val="0F172A"/>
                          </a:solidFill>
                        </a:rPr>
                        <a:t>Reads sentiment/patterns from journal entries</a:t>
                      </a:r>
                    </a:p>
                  </a:txBody>
                  <a:tcPr>
                    <a:solidFill>
                      <a:srgbClr val="FFFFFF"/>
                    </a:solidFill>
                  </a:tcPr>
                </a:tc>
              </a:tr>
              <a:tr h="365760">
                <a:tc>
                  <a:txBody>
                    <a:bodyPr/>
                    <a:lstStyle/>
                    <a:p>
                      <a:r>
                        <a:rPr sz="1300">
                          <a:solidFill>
                            <a:srgbClr val="0F172A"/>
                          </a:solidFill>
                        </a:rPr>
                        <a:t>Adaptation</a:t>
                      </a:r>
                    </a:p>
                  </a:txBody>
                  <a:tcPr>
                    <a:solidFill>
                      <a:srgbClr val="F0FDFA"/>
                    </a:solidFill>
                  </a:tcPr>
                </a:tc>
                <a:tc>
                  <a:txBody>
                    <a:bodyPr/>
                    <a:lstStyle/>
                    <a:p>
                      <a:r>
                        <a:rPr sz="1300">
                          <a:solidFill>
                            <a:srgbClr val="0F172A"/>
                          </a:solidFill>
                        </a:rPr>
                        <a:t>Adjusts the plan when reflection or completion signals change</a:t>
                      </a:r>
                    </a:p>
                  </a:txBody>
                  <a:tcPr>
                    <a:solidFill>
                      <a:srgbClr val="F0FDFA"/>
                    </a:solidFill>
                  </a:tcPr>
                </a:tc>
              </a:tr>
            </a:tbl>
          </a:graphicData>
        </a:graphic>
      </p:graphicFrame>
      <p:sp>
        <p:nvSpPr>
          <p:cNvPr id="6" name="Rectangle 5"/>
          <p:cNvSpPr/>
          <p:nvPr/>
        </p:nvSpPr>
        <p:spPr>
          <a:xfrm>
            <a:off x="548640" y="4480560"/>
            <a:ext cx="11064240" cy="914400"/>
          </a:xfrm>
          <a:prstGeom prst="rect">
            <a:avLst/>
          </a:prstGeom>
          <a:solidFill>
            <a:srgbClr val="F0FDFA"/>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0F766E"/>
                </a:solidFill>
                <a:latin typeface="Helvetica Neue"/>
              </a:rPr>
              <a:t>Confidence is always derived from something measured this run, never a flat constant. Zero signal -&gt; 0.0, not a default.</a:t>
            </a:r>
          </a:p>
        </p:txBody>
      </p:sp>
      <p:sp>
        <p:nvSpPr>
          <p:cNvPr id="7" name="Rectangle 6"/>
          <p:cNvSpPr/>
          <p:nvPr/>
        </p:nvSpPr>
        <p:spPr>
          <a:xfrm>
            <a:off x="548640" y="5486400"/>
            <a:ext cx="11064240" cy="914400"/>
          </a:xfrm>
          <a:prstGeom prst="rect">
            <a:avLst/>
          </a:prstGeom>
          <a:solidFill>
            <a:srgbClr val="FFFBEB"/>
          </a:solidFill>
          <a:ln w="1587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78350F"/>
                </a:solidFill>
                <a:latin typeface="Helvetica Neue"/>
              </a:rPr>
              <a:t>On the numbers INSIDE each formula: these are engineering-chosen weights (a floor + a scaling curve), not statistically fitted parameters. Each slide says which is which.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AGENT 1 OF 6</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Path Planning Agent</a:t>
            </a:r>
          </a:p>
        </p:txBody>
      </p:sp>
      <p:sp>
        <p:nvSpPr>
          <p:cNvPr id="5" name="TextBox 4"/>
          <p:cNvSpPr txBox="1"/>
          <p:nvPr/>
        </p:nvSpPr>
        <p:spPr>
          <a:xfrm>
            <a:off x="548640" y="1280160"/>
            <a:ext cx="11155680" cy="502920"/>
          </a:xfrm>
          <a:prstGeom prst="rect">
            <a:avLst/>
          </a:prstGeom>
          <a:noFill/>
        </p:spPr>
        <p:txBody>
          <a:bodyPr wrap="square">
            <a:spAutoFit/>
          </a:bodyPr>
          <a:lstStyle/>
          <a:p>
            <a:pPr algn="l">
              <a:spcAft>
                <a:spcPts val="600"/>
              </a:spcAft>
            </a:pPr>
            <a:r>
              <a:rPr sz="1400" b="0">
                <a:solidFill>
                  <a:srgbClr val="52525B"/>
                </a:solidFill>
                <a:latin typeface="Helvetica Neue"/>
              </a:rPr>
              <a:t>Given goals + barriers, builds a path of milestones. Each milestone is tagged nameSource: 'generated' (LLM wrote it for this user) or 'template' (fallback list shared by everyone in that life area).</a:t>
            </a:r>
          </a:p>
        </p:txBody>
      </p:sp>
      <p:sp>
        <p:nvSpPr>
          <p:cNvPr id="6" name="TextBox 5"/>
          <p:cNvSpPr txBox="1"/>
          <p:nvPr/>
        </p:nvSpPr>
        <p:spPr>
          <a:xfrm>
            <a:off x="548640" y="178308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Ground truth</a:t>
            </a:r>
          </a:p>
        </p:txBody>
      </p:sp>
      <p:sp>
        <p:nvSpPr>
          <p:cNvPr id="7" name="TextBox 6"/>
          <p:cNvSpPr txBox="1"/>
          <p:nvPr/>
        </p:nvSpPr>
        <p:spPr>
          <a:xfrm>
            <a:off x="548640" y="2057400"/>
            <a:ext cx="5486400" cy="1051560"/>
          </a:xfrm>
          <a:prstGeom prst="rect">
            <a:avLst/>
          </a:prstGeom>
          <a:noFill/>
        </p:spPr>
        <p:txBody>
          <a:bodyPr wrap="square">
            <a:spAutoFit/>
          </a:bodyPr>
          <a:lstStyle/>
          <a:p>
            <a:pPr algn="l">
              <a:spcAft>
                <a:spcPts val="600"/>
              </a:spcAft>
            </a:pPr>
            <a:r>
              <a:rPr sz="1200" b="0">
                <a:solidFill>
                  <a:srgbClr val="0F172A"/>
                </a:solidFill>
                <a:latin typeface="Helvetica Neue"/>
              </a:rPr>
              <a:t>No external gold-standard path exists. Real signal: how much of this plan was actually written for this user, per nameSource.</a:t>
            </a:r>
          </a:p>
        </p:txBody>
      </p:sp>
      <p:sp>
        <p:nvSpPr>
          <p:cNvPr id="8" name="TextBox 7"/>
          <p:cNvSpPr txBox="1"/>
          <p:nvPr/>
        </p:nvSpPr>
        <p:spPr>
          <a:xfrm>
            <a:off x="548640" y="320040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Formula</a:t>
            </a:r>
          </a:p>
        </p:txBody>
      </p:sp>
      <p:sp>
        <p:nvSpPr>
          <p:cNvPr id="9" name="Rectangle 8"/>
          <p:cNvSpPr/>
          <p:nvPr/>
        </p:nvSpPr>
        <p:spPr>
          <a:xfrm>
            <a:off x="548640" y="3474720"/>
            <a:ext cx="5486400" cy="685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100">
                <a:solidFill>
                  <a:srgbClr val="5EEAD4"/>
                </a:solidFill>
                <a:latin typeface="Menlo"/>
              </a:rPr>
              <a:t>confidence = 0.35 + 0.6 * (generated / total_milestones)</a:t>
            </a:r>
          </a:p>
        </p:txBody>
      </p:sp>
      <p:sp>
        <p:nvSpPr>
          <p:cNvPr id="10" name="TextBox 9"/>
          <p:cNvSpPr txBox="1"/>
          <p:nvPr/>
        </p:nvSpPr>
        <p:spPr>
          <a:xfrm>
            <a:off x="548640" y="4251960"/>
            <a:ext cx="5486400" cy="914400"/>
          </a:xfrm>
          <a:prstGeom prst="rect">
            <a:avLst/>
          </a:prstGeom>
          <a:noFill/>
        </p:spPr>
        <p:txBody>
          <a:bodyPr wrap="square">
            <a:spAutoFit/>
          </a:bodyPr>
          <a:lstStyle/>
          <a:p>
            <a:pPr algn="l">
              <a:spcAft>
                <a:spcPts val="600"/>
              </a:spcAft>
            </a:pPr>
            <a:r>
              <a:rPr sz="1100" b="0">
                <a:solidFill>
                  <a:srgbClr val="52525B"/>
                </a:solidFill>
                <a:latin typeface="Helvetica Neue"/>
              </a:rPr>
              <a:t>0.35 and 0.6 are CHOSEN, not fitted: 0.35 is a floor (a templated plan is still usable), 0.6 is the range up to a 0.95 ceiling. Not yet validated against real outcomes.</a:t>
            </a:r>
          </a:p>
        </p:txBody>
      </p:sp>
      <p:graphicFrame>
        <p:nvGraphicFramePr>
          <p:cNvPr id="11" name="Table 10"/>
          <p:cNvGraphicFramePr>
            <a:graphicFrameLocks noGrp="1"/>
          </p:cNvGraphicFramePr>
          <p:nvPr/>
        </p:nvGraphicFramePr>
        <p:xfrm>
          <a:off x="6309360" y="1783080"/>
          <a:ext cx="5303520" cy="1243584"/>
        </p:xfrm>
        <a:graphic>
          <a:graphicData uri="http://schemas.openxmlformats.org/drawingml/2006/table">
            <a:tbl>
              <a:tblPr firstRow="1" bandRow="1">
                <a:tableStyleId>{5C22544A-7EE6-4342-B048-85BDC9FD1C3A}</a:tableStyleId>
              </a:tblPr>
              <a:tblGrid>
                <a:gridCol w="3200400"/>
                <a:gridCol w="2103120"/>
              </a:tblGrid>
              <a:tr h="310896">
                <a:tc>
                  <a:txBody>
                    <a:bodyPr/>
                    <a:lstStyle/>
                    <a:p>
                      <a:r>
                        <a:rPr sz="1200" b="1">
                          <a:solidFill>
                            <a:srgbClr val="FFFFFF"/>
                          </a:solidFill>
                        </a:rPr>
                        <a:t>Metric</a:t>
                      </a:r>
                    </a:p>
                  </a:txBody>
                  <a:tcPr>
                    <a:solidFill>
                      <a:srgbClr val="0F766E"/>
                    </a:solidFill>
                  </a:tcPr>
                </a:tc>
                <a:tc>
                  <a:txBody>
                    <a:bodyPr/>
                    <a:lstStyle/>
                    <a:p>
                      <a:r>
                        <a:rPr sz="1200" b="1">
                          <a:solidFill>
                            <a:srgbClr val="FFFFFF"/>
                          </a:solidFill>
                        </a:rPr>
                        <a:t>Value</a:t>
                      </a:r>
                    </a:p>
                  </a:txBody>
                  <a:tcPr>
                    <a:solidFill>
                      <a:srgbClr val="0F766E"/>
                    </a:solidFill>
                  </a:tcPr>
                </a:tc>
              </a:tr>
              <a:tr h="310896">
                <a:tc>
                  <a:txBody>
                    <a:bodyPr/>
                    <a:lstStyle/>
                    <a:p>
                      <a:r>
                        <a:rPr sz="1200">
                          <a:solidFill>
                            <a:srgbClr val="0F172A"/>
                          </a:solidFill>
                        </a:rPr>
                        <a:t>Real paths</a:t>
                      </a:r>
                    </a:p>
                  </a:txBody>
                  <a:tcPr>
                    <a:solidFill>
                      <a:srgbClr val="FFFFFF"/>
                    </a:solidFill>
                  </a:tcPr>
                </a:tc>
                <a:tc>
                  <a:txBody>
                    <a:bodyPr/>
                    <a:lstStyle/>
                    <a:p>
                      <a:r>
                        <a:rPr sz="1200">
                          <a:solidFill>
                            <a:srgbClr val="0F172A"/>
                          </a:solidFill>
                        </a:rPr>
                        <a:t>48</a:t>
                      </a:r>
                    </a:p>
                  </a:txBody>
                  <a:tcPr>
                    <a:solidFill>
                      <a:srgbClr val="FFFFFF"/>
                    </a:solidFill>
                  </a:tcPr>
                </a:tc>
              </a:tr>
              <a:tr h="310896">
                <a:tc>
                  <a:txBody>
                    <a:bodyPr/>
                    <a:lstStyle/>
                    <a:p>
                      <a:r>
                        <a:rPr sz="1200">
                          <a:solidFill>
                            <a:srgbClr val="0F172A"/>
                          </a:solidFill>
                        </a:rPr>
                        <a:t>Milestones/path (mean)</a:t>
                      </a:r>
                    </a:p>
                  </a:txBody>
                  <a:tcPr>
                    <a:solidFill>
                      <a:srgbClr val="F0FDFA"/>
                    </a:solidFill>
                  </a:tcPr>
                </a:tc>
                <a:tc>
                  <a:txBody>
                    <a:bodyPr/>
                    <a:lstStyle/>
                    <a:p>
                      <a:r>
                        <a:rPr sz="1200">
                          <a:solidFill>
                            <a:srgbClr val="0F172A"/>
                          </a:solidFill>
                        </a:rPr>
                        <a:t>30.9</a:t>
                      </a:r>
                    </a:p>
                  </a:txBody>
                  <a:tcPr>
                    <a:solidFill>
                      <a:srgbClr val="F0FDFA"/>
                    </a:solidFill>
                  </a:tcPr>
                </a:tc>
              </a:tr>
              <a:tr h="310896">
                <a:tc>
                  <a:txBody>
                    <a:bodyPr/>
                    <a:lstStyle/>
                    <a:p>
                      <a:r>
                        <a:rPr sz="1200">
                          <a:solidFill>
                            <a:srgbClr val="0F172A"/>
                          </a:solidFill>
                        </a:rPr>
                        <a:t>Milestones/path (range)</a:t>
                      </a:r>
                    </a:p>
                  </a:txBody>
                  <a:tcPr>
                    <a:solidFill>
                      <a:srgbClr val="FFFFFF"/>
                    </a:solidFill>
                  </a:tcPr>
                </a:tc>
                <a:tc>
                  <a:txBody>
                    <a:bodyPr/>
                    <a:lstStyle/>
                    <a:p>
                      <a:r>
                        <a:rPr sz="1200">
                          <a:solidFill>
                            <a:srgbClr val="0F172A"/>
                          </a:solidFill>
                        </a:rPr>
                        <a:t>16 - 144</a:t>
                      </a:r>
                    </a:p>
                  </a:txBody>
                  <a:tcPr>
                    <a:solidFill>
                      <a:srgbClr val="FFFFFF"/>
                    </a:solidFill>
                  </a:tcPr>
                </a:tc>
              </a:tr>
            </a:tbl>
          </a:graphicData>
        </a:graphic>
      </p:graphicFrame>
      <p:sp>
        <p:nvSpPr>
          <p:cNvPr id="12" name="Rectangle 11"/>
          <p:cNvSpPr/>
          <p:nvPr/>
        </p:nvSpPr>
        <p:spPr>
          <a:xfrm>
            <a:off x="6309360" y="3163824"/>
            <a:ext cx="5303520" cy="1188720"/>
          </a:xfrm>
          <a:prstGeom prst="rect">
            <a:avLst/>
          </a:prstGeom>
          <a:solidFill>
            <a:srgbClr val="FEF2F2"/>
          </a:solidFill>
          <a:ln w="15875">
            <a:solidFill>
              <a:srgbClr val="9F1D1D"/>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9F1D1D"/>
                </a:solidFill>
                <a:latin typeface="Helvetica Neue"/>
              </a:rPr>
              <a:t>Gap: the generated-vs-template split isn't logged in queryable form yet -- it's in the payload, not extracted.</a:t>
            </a:r>
          </a:p>
        </p:txBody>
      </p:sp>
      <p:sp>
        <p:nvSpPr>
          <p:cNvPr id="13" name="Rectangle 12"/>
          <p:cNvSpPr/>
          <p:nvPr/>
        </p:nvSpPr>
        <p:spPr>
          <a:xfrm>
            <a:off x="6309360" y="4489704"/>
            <a:ext cx="5303520" cy="2093976"/>
          </a:xfrm>
          <a:prstGeom prst="rect">
            <a:avLst/>
          </a:prstGeom>
          <a:solidFill>
            <a:srgbClr val="F0FDFA"/>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0F766E"/>
                </a:solidFill>
                <a:latin typeface="Helvetica Neue"/>
              </a:rPr>
              <a:t>nameSource is a recorded fact, not a guess — was this milestone's name written by the LLM for this user, or pulled from the shared template list. The 0.35 and 0.6 in the formula are choices we made, not numbers we measured — point that out plainly if asked. And on Odosa's extension idea: Tool Recommendation already does something close to what she's describing. Path Planning doesn't yet. That's a real, scoped gap, not a research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AGENT 2 OF 6</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Pattern Recognition Agent — the 0.2 question</a:t>
            </a:r>
          </a:p>
        </p:txBody>
      </p:sp>
      <p:sp>
        <p:nvSpPr>
          <p:cNvPr id="5" name="TextBox 4"/>
          <p:cNvSpPr txBox="1"/>
          <p:nvPr/>
        </p:nvSpPr>
        <p:spPr>
          <a:xfrm>
            <a:off x="548640" y="1280160"/>
            <a:ext cx="11155680" cy="502920"/>
          </a:xfrm>
          <a:prstGeom prst="rect">
            <a:avLst/>
          </a:prstGeom>
          <a:noFill/>
        </p:spPr>
        <p:txBody>
          <a:bodyPr wrap="square">
            <a:spAutoFit/>
          </a:bodyPr>
          <a:lstStyle/>
          <a:p>
            <a:pPr algn="l">
              <a:spcAft>
                <a:spcPts val="600"/>
              </a:spcAft>
            </a:pPr>
            <a:r>
              <a:rPr sz="1400" b="0">
                <a:solidFill>
                  <a:srgbClr val="52525B"/>
                </a:solidFill>
                <a:latin typeface="Helvetica Neue"/>
              </a:rPr>
              <a:t>Embeds ONE user's profile, searches for similar users via a Remote Procedure Call (RPC) — a stored database function — called find_similar_pattern_users. Per-user retrieval, not population-wide.</a:t>
            </a:r>
          </a:p>
        </p:txBody>
      </p:sp>
      <p:sp>
        <p:nvSpPr>
          <p:cNvPr id="6" name="TextBox 5"/>
          <p:cNvSpPr txBox="1"/>
          <p:nvPr/>
        </p:nvSpPr>
        <p:spPr>
          <a:xfrm>
            <a:off x="548640" y="178308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Ground truth</a:t>
            </a:r>
          </a:p>
        </p:txBody>
      </p:sp>
      <p:sp>
        <p:nvSpPr>
          <p:cNvPr id="7" name="TextBox 6"/>
          <p:cNvSpPr txBox="1"/>
          <p:nvPr/>
        </p:nvSpPr>
        <p:spPr>
          <a:xfrm>
            <a:off x="548640" y="2057400"/>
            <a:ext cx="5486400" cy="1051560"/>
          </a:xfrm>
          <a:prstGeom prst="rect">
            <a:avLst/>
          </a:prstGeom>
          <a:noFill/>
        </p:spPr>
        <p:txBody>
          <a:bodyPr wrap="square">
            <a:spAutoFit/>
          </a:bodyPr>
          <a:lstStyle/>
          <a:p>
            <a:pPr algn="l">
              <a:spcAft>
                <a:spcPts val="600"/>
              </a:spcAft>
            </a:pPr>
            <a:r>
              <a:rPr sz="1200" b="0">
                <a:solidFill>
                  <a:srgbClr val="0F172A"/>
                </a:solidFill>
                <a:latin typeface="Helvetica Neue"/>
              </a:rPr>
              <a:t>This is NOT a group-pattern-mining agent — it never looks at the whole population, only one query at a time. (The agent that does mine group patterns is on slide 10.)</a:t>
            </a:r>
          </a:p>
        </p:txBody>
      </p:sp>
      <p:sp>
        <p:nvSpPr>
          <p:cNvPr id="8" name="TextBox 7"/>
          <p:cNvSpPr txBox="1"/>
          <p:nvPr/>
        </p:nvSpPr>
        <p:spPr>
          <a:xfrm>
            <a:off x="548640" y="320040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Formula</a:t>
            </a:r>
          </a:p>
        </p:txBody>
      </p:sp>
      <p:sp>
        <p:nvSpPr>
          <p:cNvPr id="9" name="Rectangle 8"/>
          <p:cNvSpPr/>
          <p:nvPr/>
        </p:nvSpPr>
        <p:spPr>
          <a:xfrm>
            <a:off x="548640" y="3474720"/>
            <a:ext cx="5486400" cy="685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100">
                <a:solidFill>
                  <a:srgbClr val="5EEAD4"/>
                </a:solidFill>
                <a:latin typeface="Menlo"/>
              </a:rPr>
              <a:t>confidence = min(similar_users_returned / 10, 1.0)</a:t>
            </a:r>
          </a:p>
        </p:txBody>
      </p:sp>
      <p:sp>
        <p:nvSpPr>
          <p:cNvPr id="10" name="TextBox 9"/>
          <p:cNvSpPr txBox="1"/>
          <p:nvPr/>
        </p:nvSpPr>
        <p:spPr>
          <a:xfrm>
            <a:off x="548640" y="4251960"/>
            <a:ext cx="5486400" cy="914400"/>
          </a:xfrm>
          <a:prstGeom prst="rect">
            <a:avLst/>
          </a:prstGeom>
          <a:noFill/>
        </p:spPr>
        <p:txBody>
          <a:bodyPr wrap="square">
            <a:spAutoFit/>
          </a:bodyPr>
          <a:lstStyle/>
          <a:p>
            <a:pPr algn="l">
              <a:spcAft>
                <a:spcPts val="600"/>
              </a:spcAft>
            </a:pPr>
            <a:r>
              <a:rPr sz="1100" b="0">
                <a:solidFill>
                  <a:srgbClr val="52525B"/>
                </a:solidFill>
                <a:latin typeface="Helvetica Neue"/>
              </a:rPr>
              <a:t>10 requested and the RPC's 0.7 match threshold are both CHOSEN, not derived. The RPC's own similarity score is NOT used — measured directly, it sits near 1.0 for every result regardless of quality.</a:t>
            </a:r>
          </a:p>
        </p:txBody>
      </p:sp>
      <p:graphicFrame>
        <p:nvGraphicFramePr>
          <p:cNvPr id="11" name="Table 10"/>
          <p:cNvGraphicFramePr>
            <a:graphicFrameLocks noGrp="1"/>
          </p:cNvGraphicFramePr>
          <p:nvPr/>
        </p:nvGraphicFramePr>
        <p:xfrm>
          <a:off x="6309360" y="1783080"/>
          <a:ext cx="5303520" cy="1243584"/>
        </p:xfrm>
        <a:graphic>
          <a:graphicData uri="http://schemas.openxmlformats.org/drawingml/2006/table">
            <a:tbl>
              <a:tblPr firstRow="1" bandRow="1">
                <a:tableStyleId>{5C22544A-7EE6-4342-B048-85BDC9FD1C3A}</a:tableStyleId>
              </a:tblPr>
              <a:tblGrid>
                <a:gridCol w="3200400"/>
                <a:gridCol w="2103120"/>
              </a:tblGrid>
              <a:tr h="310896">
                <a:tc>
                  <a:txBody>
                    <a:bodyPr/>
                    <a:lstStyle/>
                    <a:p>
                      <a:r>
                        <a:rPr sz="1200" b="1">
                          <a:solidFill>
                            <a:srgbClr val="FFFFFF"/>
                          </a:solidFill>
                        </a:rPr>
                        <a:t>Metric</a:t>
                      </a:r>
                    </a:p>
                  </a:txBody>
                  <a:tcPr>
                    <a:solidFill>
                      <a:srgbClr val="0F766E"/>
                    </a:solidFill>
                  </a:tcPr>
                </a:tc>
                <a:tc>
                  <a:txBody>
                    <a:bodyPr/>
                    <a:lstStyle/>
                    <a:p>
                      <a:r>
                        <a:rPr sz="1200" b="1">
                          <a:solidFill>
                            <a:srgbClr val="FFFFFF"/>
                          </a:solidFill>
                        </a:rPr>
                        <a:t>Value</a:t>
                      </a:r>
                    </a:p>
                  </a:txBody>
                  <a:tcPr>
                    <a:solidFill>
                      <a:srgbClr val="0F766E"/>
                    </a:solidFill>
                  </a:tcPr>
                </a:tc>
              </a:tr>
              <a:tr h="310896">
                <a:tc>
                  <a:txBody>
                    <a:bodyPr/>
                    <a:lstStyle/>
                    <a:p>
                      <a:r>
                        <a:rPr sz="1200">
                          <a:solidFill>
                            <a:srgbClr val="0F172A"/>
                          </a:solidFill>
                        </a:rPr>
                        <a:t>Real users embedded</a:t>
                      </a:r>
                    </a:p>
                  </a:txBody>
                  <a:tcPr>
                    <a:solidFill>
                      <a:srgbClr val="FFFFFF"/>
                    </a:solidFill>
                  </a:tcPr>
                </a:tc>
                <a:tc>
                  <a:txBody>
                    <a:bodyPr/>
                    <a:lstStyle/>
                    <a:p>
                      <a:r>
                        <a:rPr sz="1200">
                          <a:solidFill>
                            <a:srgbClr val="0F172A"/>
                          </a:solidFill>
                        </a:rPr>
                        <a:t>36 (corrected from 16)</a:t>
                      </a:r>
                    </a:p>
                  </a:txBody>
                  <a:tcPr>
                    <a:solidFill>
                      <a:srgbClr val="FFFFFF"/>
                    </a:solidFill>
                  </a:tcPr>
                </a:tc>
              </a:tr>
              <a:tr h="310896">
                <a:tc>
                  <a:txBody>
                    <a:bodyPr/>
                    <a:lstStyle/>
                    <a:p>
                      <a:r>
                        <a:rPr sz="1200">
                          <a:solidFill>
                            <a:srgbClr val="0F172A"/>
                          </a:solidFill>
                        </a:rPr>
                        <a:t>Requested per query</a:t>
                      </a:r>
                    </a:p>
                  </a:txBody>
                  <a:tcPr>
                    <a:solidFill>
                      <a:srgbClr val="F0FDFA"/>
                    </a:solidFill>
                  </a:tcPr>
                </a:tc>
                <a:tc>
                  <a:txBody>
                    <a:bodyPr/>
                    <a:lstStyle/>
                    <a:p>
                      <a:r>
                        <a:rPr sz="1200">
                          <a:solidFill>
                            <a:srgbClr val="0F172A"/>
                          </a:solidFill>
                        </a:rPr>
                        <a:t>10</a:t>
                      </a:r>
                    </a:p>
                  </a:txBody>
                  <a:tcPr>
                    <a:solidFill>
                      <a:srgbClr val="F0FDFA"/>
                    </a:solidFill>
                  </a:tcPr>
                </a:tc>
              </a:tr>
              <a:tr h="310896">
                <a:tc>
                  <a:txBody>
                    <a:bodyPr/>
                    <a:lstStyle/>
                    <a:p>
                      <a:r>
                        <a:rPr sz="1200">
                          <a:solidFill>
                            <a:srgbClr val="0F172A"/>
                          </a:solidFill>
                        </a:rPr>
                        <a:t>A real query found</a:t>
                      </a:r>
                    </a:p>
                  </a:txBody>
                  <a:tcPr>
                    <a:solidFill>
                      <a:srgbClr val="FFFFFF"/>
                    </a:solidFill>
                  </a:tcPr>
                </a:tc>
                <a:tc>
                  <a:txBody>
                    <a:bodyPr/>
                    <a:lstStyle/>
                    <a:p>
                      <a:r>
                        <a:rPr sz="1200">
                          <a:solidFill>
                            <a:srgbClr val="0F172A"/>
                          </a:solidFill>
                        </a:rPr>
                        <a:t>2 comparable</a:t>
                      </a:r>
                    </a:p>
                  </a:txBody>
                  <a:tcPr>
                    <a:solidFill>
                      <a:srgbClr val="FFFFFF"/>
                    </a:solidFill>
                  </a:tcPr>
                </a:tc>
              </a:tr>
            </a:tbl>
          </a:graphicData>
        </a:graphic>
      </p:graphicFrame>
      <p:sp>
        <p:nvSpPr>
          <p:cNvPr id="12" name="Rectangle 11"/>
          <p:cNvSpPr/>
          <p:nvPr/>
        </p:nvSpPr>
        <p:spPr>
          <a:xfrm>
            <a:off x="6309360" y="3163824"/>
            <a:ext cx="5303520" cy="1188720"/>
          </a:xfrm>
          <a:prstGeom prst="rect">
            <a:avLst/>
          </a:prstGeom>
          <a:solidFill>
            <a:srgbClr val="FEF2F2"/>
          </a:solidFill>
          <a:ln w="15875">
            <a:solidFill>
              <a:srgbClr val="9F1D1D"/>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9F1D1D"/>
                </a:solidFill>
                <a:latin typeface="Helvetica Neue"/>
              </a:rPr>
              <a:t>36, not 16 -- "just need more users" is a weaker complete answer now. Could also mean these 2 matches were the only close ones among 36 -- worth separately investigating match threshold vs. genuine profile diversity.</a:t>
            </a:r>
          </a:p>
        </p:txBody>
      </p:sp>
      <p:sp>
        <p:nvSpPr>
          <p:cNvPr id="13" name="Rectangle 12"/>
          <p:cNvSpPr/>
          <p:nvPr/>
        </p:nvSpPr>
        <p:spPr>
          <a:xfrm>
            <a:off x="6309360" y="4489704"/>
            <a:ext cx="5303520" cy="2093976"/>
          </a:xfrm>
          <a:prstGeom prst="rect">
            <a:avLst/>
          </a:prstGeom>
          <a:solidFill>
            <a:srgbClr val="F0FDFA"/>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0F766E"/>
                </a:solidFill>
                <a:latin typeface="Helvetica Neue"/>
              </a:rPr>
              <a:t>First: no bare acronyms — RPC is Remote Procedure Call, spelled out on the slide. Second, and this is a real scope correction: this agent only ever looks at one person at a time. It does not mine patterns across the population — that's a different agent, on ResourceHub's side, slide ten. On the 0.2 number itself: the real embedded pool is thirty-six people, not sixteen like we said this morning. That changes the story slightly — it's not purely 'too few users,' it might also mean these two were genuinely the closest matches in a pool of thirty-six.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AGENT 3 OF 6</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Tool Recommendation Agent</a:t>
            </a:r>
          </a:p>
        </p:txBody>
      </p:sp>
      <p:sp>
        <p:nvSpPr>
          <p:cNvPr id="5" name="TextBox 4"/>
          <p:cNvSpPr txBox="1"/>
          <p:nvPr/>
        </p:nvSpPr>
        <p:spPr>
          <a:xfrm>
            <a:off x="548640" y="1280160"/>
            <a:ext cx="11155680" cy="502920"/>
          </a:xfrm>
          <a:prstGeom prst="rect">
            <a:avLst/>
          </a:prstGeom>
          <a:noFill/>
        </p:spPr>
        <p:txBody>
          <a:bodyPr wrap="square">
            <a:spAutoFit/>
          </a:bodyPr>
          <a:lstStyle/>
          <a:p>
            <a:pPr algn="l">
              <a:spcAft>
                <a:spcPts val="600"/>
              </a:spcAft>
            </a:pPr>
            <a:r>
              <a:rPr sz="1400" b="0">
                <a:solidFill>
                  <a:srgbClr val="52525B"/>
                </a:solidFill>
                <a:latin typeface="Helvetica Neue"/>
              </a:rPr>
              <a:t>Matches tools/resources to a milestone's barriers.</a:t>
            </a:r>
          </a:p>
        </p:txBody>
      </p:sp>
      <p:sp>
        <p:nvSpPr>
          <p:cNvPr id="6" name="TextBox 5"/>
          <p:cNvSpPr txBox="1"/>
          <p:nvPr/>
        </p:nvSpPr>
        <p:spPr>
          <a:xfrm>
            <a:off x="548640" y="178308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Ground truth</a:t>
            </a:r>
          </a:p>
        </p:txBody>
      </p:sp>
      <p:sp>
        <p:nvSpPr>
          <p:cNvPr id="7" name="TextBox 6"/>
          <p:cNvSpPr txBox="1"/>
          <p:nvPr/>
        </p:nvSpPr>
        <p:spPr>
          <a:xfrm>
            <a:off x="548640" y="2057400"/>
            <a:ext cx="5486400" cy="1051560"/>
          </a:xfrm>
          <a:prstGeom prst="rect">
            <a:avLst/>
          </a:prstGeom>
          <a:noFill/>
        </p:spPr>
        <p:txBody>
          <a:bodyPr wrap="square">
            <a:spAutoFit/>
          </a:bodyPr>
          <a:lstStyle/>
          <a:p>
            <a:pPr algn="l">
              <a:spcAft>
                <a:spcPts val="600"/>
              </a:spcAft>
            </a:pPr>
            <a:r>
              <a:rPr sz="1200" b="0">
                <a:solidFill>
                  <a:srgbClr val="0F172A"/>
                </a:solidFill>
                <a:latin typeface="Helvetica Neue"/>
              </a:rPr>
              <a:t>Community ratings on the resource, PLUS a learned reward from tool_outcomes (reflection-derived, per tool+barrier) already folded into ranking.</a:t>
            </a:r>
          </a:p>
        </p:txBody>
      </p:sp>
      <p:sp>
        <p:nvSpPr>
          <p:cNvPr id="8" name="TextBox 7"/>
          <p:cNvSpPr txBox="1"/>
          <p:nvPr/>
        </p:nvSpPr>
        <p:spPr>
          <a:xfrm>
            <a:off x="548640" y="320040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Formula</a:t>
            </a:r>
          </a:p>
        </p:txBody>
      </p:sp>
      <p:sp>
        <p:nvSpPr>
          <p:cNvPr id="9" name="Rectangle 8"/>
          <p:cNvSpPr/>
          <p:nvPr/>
        </p:nvSpPr>
        <p:spPr>
          <a:xfrm>
            <a:off x="548640" y="3474720"/>
            <a:ext cx="5486400" cy="685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100">
                <a:solidFill>
                  <a:srgbClr val="5EEAD4"/>
                </a:solidFill>
                <a:latin typeface="Menlo"/>
              </a:rPr>
              <a:t>evidence = 0.6 + 0.4*(rated/total)</a:t>
            </a:r>
          </a:p>
          <a:p>
            <a:r>
              <a:rPr sz="1100">
                <a:solidFill>
                  <a:srgbClr val="5EEAD4"/>
                </a:solidFill>
                <a:latin typeface="Menlo"/>
              </a:rPr>
              <a:t>confidence = mean_relevance * evidence</a:t>
            </a:r>
          </a:p>
        </p:txBody>
      </p:sp>
      <p:sp>
        <p:nvSpPr>
          <p:cNvPr id="10" name="TextBox 9"/>
          <p:cNvSpPr txBox="1"/>
          <p:nvPr/>
        </p:nvSpPr>
        <p:spPr>
          <a:xfrm>
            <a:off x="548640" y="4251960"/>
            <a:ext cx="5486400" cy="914400"/>
          </a:xfrm>
          <a:prstGeom prst="rect">
            <a:avLst/>
          </a:prstGeom>
          <a:noFill/>
        </p:spPr>
        <p:txBody>
          <a:bodyPr wrap="square">
            <a:spAutoFit/>
          </a:bodyPr>
          <a:lstStyle/>
          <a:p>
            <a:pPr algn="l">
              <a:spcAft>
                <a:spcPts val="600"/>
              </a:spcAft>
            </a:pPr>
            <a:r>
              <a:rPr sz="1100" b="0">
                <a:solidFill>
                  <a:srgbClr val="52525B"/>
                </a:solidFill>
                <a:latin typeface="Helvetica Neue"/>
              </a:rPr>
              <a:t>0.6 / 0.4 are CHOSEN: a floor so relevance counts even with zero reviews, plus weight for real community evidence. Not fitted.</a:t>
            </a:r>
          </a:p>
        </p:txBody>
      </p:sp>
      <p:graphicFrame>
        <p:nvGraphicFramePr>
          <p:cNvPr id="11" name="Table 10"/>
          <p:cNvGraphicFramePr>
            <a:graphicFrameLocks noGrp="1"/>
          </p:cNvGraphicFramePr>
          <p:nvPr/>
        </p:nvGraphicFramePr>
        <p:xfrm>
          <a:off x="6309360" y="1783080"/>
          <a:ext cx="5303520" cy="1243584"/>
        </p:xfrm>
        <a:graphic>
          <a:graphicData uri="http://schemas.openxmlformats.org/drawingml/2006/table">
            <a:tbl>
              <a:tblPr firstRow="1" bandRow="1">
                <a:tableStyleId>{5C22544A-7EE6-4342-B048-85BDC9FD1C3A}</a:tableStyleId>
              </a:tblPr>
              <a:tblGrid>
                <a:gridCol w="3383280"/>
                <a:gridCol w="1920240"/>
              </a:tblGrid>
              <a:tr h="310896">
                <a:tc>
                  <a:txBody>
                    <a:bodyPr/>
                    <a:lstStyle/>
                    <a:p>
                      <a:r>
                        <a:rPr sz="1200" b="1">
                          <a:solidFill>
                            <a:srgbClr val="FFFFFF"/>
                          </a:solidFill>
                        </a:rPr>
                        <a:t>Category</a:t>
                      </a:r>
                    </a:p>
                  </a:txBody>
                  <a:tcPr>
                    <a:solidFill>
                      <a:srgbClr val="0F766E"/>
                    </a:solidFill>
                  </a:tcPr>
                </a:tc>
                <a:tc>
                  <a:txBody>
                    <a:bodyPr/>
                    <a:lstStyle/>
                    <a:p>
                      <a:r>
                        <a:rPr sz="1200" b="1">
                          <a:solidFill>
                            <a:srgbClr val="FFFFFF"/>
                          </a:solidFill>
                        </a:rPr>
                        <a:t>Count</a:t>
                      </a:r>
                    </a:p>
                  </a:txBody>
                  <a:tcPr>
                    <a:solidFill>
                      <a:srgbClr val="0F766E"/>
                    </a:solidFill>
                  </a:tcPr>
                </a:tc>
              </a:tr>
              <a:tr h="310896">
                <a:tc>
                  <a:txBody>
                    <a:bodyPr/>
                    <a:lstStyle/>
                    <a:p>
                      <a:r>
                        <a:rPr sz="1200">
                          <a:solidFill>
                            <a:srgbClr val="0F172A"/>
                          </a:solidFill>
                        </a:rPr>
                        <a:t>Approved resources</a:t>
                      </a:r>
                    </a:p>
                  </a:txBody>
                  <a:tcPr>
                    <a:solidFill>
                      <a:srgbClr val="FFFFFF"/>
                    </a:solidFill>
                  </a:tcPr>
                </a:tc>
                <a:tc>
                  <a:txBody>
                    <a:bodyPr/>
                    <a:lstStyle/>
                    <a:p>
                      <a:r>
                        <a:rPr sz="1200">
                          <a:solidFill>
                            <a:srgbClr val="0F172A"/>
                          </a:solidFill>
                        </a:rPr>
                        <a:t>95</a:t>
                      </a:r>
                    </a:p>
                  </a:txBody>
                  <a:tcPr>
                    <a:solidFill>
                      <a:srgbClr val="FFFFFF"/>
                    </a:solidFill>
                  </a:tcPr>
                </a:tc>
              </a:tr>
              <a:tr h="310896">
                <a:tc>
                  <a:txBody>
                    <a:bodyPr/>
                    <a:lstStyle/>
                    <a:p>
                      <a:r>
                        <a:rPr sz="1200">
                          <a:solidFill>
                            <a:srgbClr val="0F172A"/>
                          </a:solidFill>
                        </a:rPr>
                        <a:t>Employment (category)</a:t>
                      </a:r>
                    </a:p>
                  </a:txBody>
                  <a:tcPr>
                    <a:solidFill>
                      <a:srgbClr val="F0FDFA"/>
                    </a:solidFill>
                  </a:tcPr>
                </a:tc>
                <a:tc>
                  <a:txBody>
                    <a:bodyPr/>
                    <a:lstStyle/>
                    <a:p>
                      <a:r>
                        <a:rPr sz="1200">
                          <a:solidFill>
                            <a:srgbClr val="0F172A"/>
                          </a:solidFill>
                        </a:rPr>
                        <a:t>5</a:t>
                      </a:r>
                    </a:p>
                  </a:txBody>
                  <a:tcPr>
                    <a:solidFill>
                      <a:srgbClr val="F0FDFA"/>
                    </a:solidFill>
                  </a:tcPr>
                </a:tc>
              </a:tr>
              <a:tr h="310896">
                <a:tc>
                  <a:txBody>
                    <a:bodyPr/>
                    <a:lstStyle/>
                    <a:p>
                      <a:r>
                        <a:rPr sz="1200">
                          <a:solidFill>
                            <a:srgbClr val="0F172A"/>
                          </a:solidFill>
                        </a:rPr>
                        <a:t>Housing (category)</a:t>
                      </a:r>
                    </a:p>
                  </a:txBody>
                  <a:tcPr>
                    <a:solidFill>
                      <a:srgbClr val="FFFFFF"/>
                    </a:solidFill>
                  </a:tcPr>
                </a:tc>
                <a:tc>
                  <a:txBody>
                    <a:bodyPr/>
                    <a:lstStyle/>
                    <a:p>
                      <a:r>
                        <a:rPr sz="1200">
                          <a:solidFill>
                            <a:srgbClr val="0F172A"/>
                          </a:solidFill>
                        </a:rPr>
                        <a:t>4</a:t>
                      </a:r>
                    </a:p>
                  </a:txBody>
                  <a:tcPr>
                    <a:solidFill>
                      <a:srgbClr val="FFFFFF"/>
                    </a:solidFill>
                  </a:tcPr>
                </a:tc>
              </a:tr>
            </a:tbl>
          </a:graphicData>
        </a:graphic>
      </p:graphicFrame>
      <p:sp>
        <p:nvSpPr>
          <p:cNvPr id="12" name="Rectangle 11"/>
          <p:cNvSpPr/>
          <p:nvPr/>
        </p:nvSpPr>
        <p:spPr>
          <a:xfrm>
            <a:off x="6309360" y="3163824"/>
            <a:ext cx="5303520" cy="1188720"/>
          </a:xfrm>
          <a:prstGeom prst="rect">
            <a:avLst/>
          </a:prstGeom>
          <a:solidFill>
            <a:srgbClr val="FEF2F2"/>
          </a:solidFill>
          <a:ln w="15875">
            <a:solidFill>
              <a:srgbClr val="9F1D1D"/>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9F1D1D"/>
                </a:solidFill>
                <a:latin typeface="Helvetica Neue"/>
              </a:rPr>
              <a:t>Gap: review-coverage across the 95 approved resources not yet queried -- direct ceiling on this agent's confidence.</a:t>
            </a:r>
          </a:p>
        </p:txBody>
      </p:sp>
      <p:sp>
        <p:nvSpPr>
          <p:cNvPr id="13" name="Rectangle 12"/>
          <p:cNvSpPr/>
          <p:nvPr/>
        </p:nvSpPr>
        <p:spPr>
          <a:xfrm>
            <a:off x="6309360" y="4489704"/>
            <a:ext cx="5303520" cy="2093976"/>
          </a:xfrm>
          <a:prstGeom prst="rect">
            <a:avLst/>
          </a:prstGeom>
          <a:solidFill>
            <a:srgbClr val="F0FDFA"/>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0F766E"/>
                </a:solidFill>
                <a:latin typeface="Helvetica Neue"/>
              </a:rPr>
              <a:t>Correction from this morning: this formula isn't rating-only, it already blends in a learned reward from past reflections. On people: this is a real gap across the whole product, not just this agent. We store role models, mentors, friends and rivals. Nothing reads that table for a recommendation, in either Autinerary or ResourceHub.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AGENT 4 OF 6</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Calendar Optimization Agent</a:t>
            </a:r>
          </a:p>
        </p:txBody>
      </p:sp>
      <p:sp>
        <p:nvSpPr>
          <p:cNvPr id="5" name="TextBox 4"/>
          <p:cNvSpPr txBox="1"/>
          <p:nvPr/>
        </p:nvSpPr>
        <p:spPr>
          <a:xfrm>
            <a:off x="548640" y="1280160"/>
            <a:ext cx="11155680" cy="502920"/>
          </a:xfrm>
          <a:prstGeom prst="rect">
            <a:avLst/>
          </a:prstGeom>
          <a:noFill/>
        </p:spPr>
        <p:txBody>
          <a:bodyPr wrap="square">
            <a:spAutoFit/>
          </a:bodyPr>
          <a:lstStyle/>
          <a:p>
            <a:pPr algn="l">
              <a:spcAft>
                <a:spcPts val="600"/>
              </a:spcAft>
            </a:pPr>
            <a:r>
              <a:rPr sz="1400" b="0">
                <a:solidFill>
                  <a:srgbClr val="52525B"/>
                </a:solidFill>
                <a:latin typeface="Helvetica Neue"/>
              </a:rPr>
              <a:t>Places a week's tasks into a barrier-aware daily schedule.</a:t>
            </a:r>
          </a:p>
        </p:txBody>
      </p:sp>
      <p:sp>
        <p:nvSpPr>
          <p:cNvPr id="6" name="TextBox 5"/>
          <p:cNvSpPr txBox="1"/>
          <p:nvPr/>
        </p:nvSpPr>
        <p:spPr>
          <a:xfrm>
            <a:off x="548640" y="178308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Ground truth</a:t>
            </a:r>
          </a:p>
        </p:txBody>
      </p:sp>
      <p:sp>
        <p:nvSpPr>
          <p:cNvPr id="7" name="TextBox 6"/>
          <p:cNvSpPr txBox="1"/>
          <p:nvPr/>
        </p:nvSpPr>
        <p:spPr>
          <a:xfrm>
            <a:off x="548640" y="2057400"/>
            <a:ext cx="5486400" cy="1051560"/>
          </a:xfrm>
          <a:prstGeom prst="rect">
            <a:avLst/>
          </a:prstGeom>
          <a:noFill/>
        </p:spPr>
        <p:txBody>
          <a:bodyPr wrap="square">
            <a:spAutoFit/>
          </a:bodyPr>
          <a:lstStyle/>
          <a:p>
            <a:pPr algn="l">
              <a:spcAft>
                <a:spcPts val="600"/>
              </a:spcAft>
            </a:pPr>
            <a:r>
              <a:rPr sz="1200" b="0">
                <a:solidFill>
                  <a:srgbClr val="0F172A"/>
                </a:solidFill>
                <a:latin typeface="Helvetica Neue"/>
              </a:rPr>
              <a:t>In plain terms: graded on producing a SENSIBLE week, not on clearing the whole backlog. A real run placed 30 of 80 backlogged tasks in one week — correct, not a failure: 80 tasks across 16 milestones is genuinely several weeks of real work, and cramming it all in would be actively bad for the user.</a:t>
            </a:r>
          </a:p>
        </p:txBody>
      </p:sp>
      <p:sp>
        <p:nvSpPr>
          <p:cNvPr id="8" name="TextBox 7"/>
          <p:cNvSpPr txBox="1"/>
          <p:nvPr/>
        </p:nvSpPr>
        <p:spPr>
          <a:xfrm>
            <a:off x="548640" y="320040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Formula</a:t>
            </a:r>
          </a:p>
        </p:txBody>
      </p:sp>
      <p:sp>
        <p:nvSpPr>
          <p:cNvPr id="9" name="Rectangle 8"/>
          <p:cNvSpPr/>
          <p:nvPr/>
        </p:nvSpPr>
        <p:spPr>
          <a:xfrm>
            <a:off x="548640" y="3474720"/>
            <a:ext cx="5486400" cy="685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100">
                <a:solidFill>
                  <a:srgbClr val="5EEAD4"/>
                </a:solidFill>
                <a:latin typeface="Menlo"/>
              </a:rPr>
              <a:t>fill = days_with_work / total_days</a:t>
            </a:r>
          </a:p>
          <a:p>
            <a:r>
              <a:rPr sz="1100">
                <a:solidFill>
                  <a:srgbClr val="5EEAD4"/>
                </a:solidFill>
                <a:latin typeface="Menlo"/>
              </a:rPr>
              <a:t>confidence = fill * (1.0 if preferred_buckets else 0.75)</a:t>
            </a:r>
          </a:p>
        </p:txBody>
      </p:sp>
      <p:sp>
        <p:nvSpPr>
          <p:cNvPr id="10" name="TextBox 9"/>
          <p:cNvSpPr txBox="1"/>
          <p:nvPr/>
        </p:nvSpPr>
        <p:spPr>
          <a:xfrm>
            <a:off x="548640" y="4251960"/>
            <a:ext cx="5486400" cy="914400"/>
          </a:xfrm>
          <a:prstGeom prst="rect">
            <a:avLst/>
          </a:prstGeom>
          <a:noFill/>
        </p:spPr>
        <p:txBody>
          <a:bodyPr wrap="square">
            <a:spAutoFit/>
          </a:bodyPr>
          <a:lstStyle/>
          <a:p>
            <a:pPr algn="l">
              <a:spcAft>
                <a:spcPts val="600"/>
              </a:spcAft>
            </a:pPr>
            <a:r>
              <a:rPr sz="1100" b="0">
                <a:solidFill>
                  <a:srgbClr val="52525B"/>
                </a:solidFill>
                <a:latin typeface="Helvetica Neue"/>
              </a:rPr>
              <a:t>1.0 / 0.75 are CHOSEN: full credit when we know the user's preferred time-of-day, a lower cap when we're working with less information. Not fitted against real satisfaction data.</a:t>
            </a:r>
          </a:p>
        </p:txBody>
      </p:sp>
      <p:sp>
        <p:nvSpPr>
          <p:cNvPr id="11" name="Rectangle 10"/>
          <p:cNvSpPr/>
          <p:nvPr/>
        </p:nvSpPr>
        <p:spPr>
          <a:xfrm>
            <a:off x="6309360" y="1783080"/>
            <a:ext cx="5303520" cy="1188720"/>
          </a:xfrm>
          <a:prstGeom prst="rect">
            <a:avLst/>
          </a:prstGeom>
          <a:solidFill>
            <a:srgbClr val="FEF2F2"/>
          </a:solidFill>
          <a:ln w="15875">
            <a:solidFill>
              <a:srgbClr val="9F1D1D"/>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9F1D1D"/>
                </a:solidFill>
                <a:latin typeface="Helvetica Neue"/>
              </a:rPr>
              <a:t>Gap: real per-user weekly fill rate hasn't been pulled across the actual user base yet.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AGENT 5 OF 6</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Reflection Analysis Agent</a:t>
            </a:r>
          </a:p>
        </p:txBody>
      </p:sp>
      <p:sp>
        <p:nvSpPr>
          <p:cNvPr id="5" name="TextBox 4"/>
          <p:cNvSpPr txBox="1"/>
          <p:nvPr/>
        </p:nvSpPr>
        <p:spPr>
          <a:xfrm>
            <a:off x="548640" y="1280160"/>
            <a:ext cx="11155680" cy="502920"/>
          </a:xfrm>
          <a:prstGeom prst="rect">
            <a:avLst/>
          </a:prstGeom>
          <a:noFill/>
        </p:spPr>
        <p:txBody>
          <a:bodyPr wrap="square">
            <a:spAutoFit/>
          </a:bodyPr>
          <a:lstStyle/>
          <a:p>
            <a:pPr algn="l">
              <a:spcAft>
                <a:spcPts val="600"/>
              </a:spcAft>
            </a:pPr>
            <a:r>
              <a:rPr sz="1400" b="0">
                <a:solidFill>
                  <a:srgbClr val="52525B"/>
                </a:solidFill>
                <a:latin typeface="Helvetica Neue"/>
              </a:rPr>
              <a:t>Sentiment + pattern extraction from a journal/reflection entry.</a:t>
            </a:r>
          </a:p>
        </p:txBody>
      </p:sp>
      <p:sp>
        <p:nvSpPr>
          <p:cNvPr id="6" name="TextBox 5"/>
          <p:cNvSpPr txBox="1"/>
          <p:nvPr/>
        </p:nvSpPr>
        <p:spPr>
          <a:xfrm>
            <a:off x="548640" y="178308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Ground truth</a:t>
            </a:r>
          </a:p>
        </p:txBody>
      </p:sp>
      <p:sp>
        <p:nvSpPr>
          <p:cNvPr id="7" name="TextBox 6"/>
          <p:cNvSpPr txBox="1"/>
          <p:nvPr/>
        </p:nvSpPr>
        <p:spPr>
          <a:xfrm>
            <a:off x="548640" y="2057400"/>
            <a:ext cx="5486400" cy="1051560"/>
          </a:xfrm>
          <a:prstGeom prst="rect">
            <a:avLst/>
          </a:prstGeom>
          <a:noFill/>
        </p:spPr>
        <p:txBody>
          <a:bodyPr wrap="square">
            <a:spAutoFit/>
          </a:bodyPr>
          <a:lstStyle/>
          <a:p>
            <a:pPr algn="l">
              <a:spcAft>
                <a:spcPts val="600"/>
              </a:spcAft>
            </a:pPr>
            <a:r>
              <a:rPr sz="1200" b="0">
                <a:solidFill>
                  <a:srgbClr val="0F172A"/>
                </a:solidFill>
                <a:latin typeface="Helvetica Neue"/>
              </a:rPr>
              <a:t>Length and pattern-density of what was actually written. A one-word entry can't score as high as a paragraph — a hard floor.</a:t>
            </a:r>
          </a:p>
        </p:txBody>
      </p:sp>
      <p:sp>
        <p:nvSpPr>
          <p:cNvPr id="8" name="TextBox 7"/>
          <p:cNvSpPr txBox="1"/>
          <p:nvPr/>
        </p:nvSpPr>
        <p:spPr>
          <a:xfrm>
            <a:off x="548640" y="320040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Formula</a:t>
            </a:r>
          </a:p>
        </p:txBody>
      </p:sp>
      <p:sp>
        <p:nvSpPr>
          <p:cNvPr id="9" name="Rectangle 8"/>
          <p:cNvSpPr/>
          <p:nvPr/>
        </p:nvSpPr>
        <p:spPr>
          <a:xfrm>
            <a:off x="548640" y="3474720"/>
            <a:ext cx="5486400" cy="685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100">
                <a:solidFill>
                  <a:srgbClr val="5EEAD4"/>
                </a:solidFill>
                <a:latin typeface="Menlo"/>
              </a:rPr>
              <a:t>depth = min(words/60,1.0)</a:t>
            </a:r>
          </a:p>
          <a:p>
            <a:r>
              <a:rPr sz="1100">
                <a:solidFill>
                  <a:srgbClr val="5EEAD4"/>
                </a:solidFill>
                <a:latin typeface="Menlo"/>
              </a:rPr>
              <a:t>signal = min(patterns/3,1.0)</a:t>
            </a:r>
          </a:p>
          <a:p>
            <a:r>
              <a:rPr sz="1100">
                <a:solidFill>
                  <a:srgbClr val="5EEAD4"/>
                </a:solidFill>
                <a:latin typeface="Menlo"/>
              </a:rPr>
              <a:t>confidence = 0.3 + 0.5*depth + 0.2*signal   (0.0 if empty)</a:t>
            </a:r>
          </a:p>
        </p:txBody>
      </p:sp>
      <p:sp>
        <p:nvSpPr>
          <p:cNvPr id="10" name="TextBox 9"/>
          <p:cNvSpPr txBox="1"/>
          <p:nvPr/>
        </p:nvSpPr>
        <p:spPr>
          <a:xfrm>
            <a:off x="548640" y="4251960"/>
            <a:ext cx="5486400" cy="914400"/>
          </a:xfrm>
          <a:prstGeom prst="rect">
            <a:avLst/>
          </a:prstGeom>
          <a:noFill/>
        </p:spPr>
        <p:txBody>
          <a:bodyPr wrap="square">
            <a:spAutoFit/>
          </a:bodyPr>
          <a:lstStyle/>
          <a:p>
            <a:pPr algn="l">
              <a:spcAft>
                <a:spcPts val="600"/>
              </a:spcAft>
            </a:pPr>
            <a:r>
              <a:rPr sz="1100" b="0">
                <a:solidFill>
                  <a:srgbClr val="52525B"/>
                </a:solidFill>
                <a:latin typeface="Helvetica Neue"/>
              </a:rPr>
              <a:t>60 words, 3 patterns, and the 0.3/0.5/0.2 split are all CHOSEN judgment calls, untested against real data on whether they're the right cutoffs.</a:t>
            </a:r>
          </a:p>
        </p:txBody>
      </p:sp>
      <p:sp>
        <p:nvSpPr>
          <p:cNvPr id="11" name="Rectangle 10"/>
          <p:cNvSpPr/>
          <p:nvPr/>
        </p:nvSpPr>
        <p:spPr>
          <a:xfrm>
            <a:off x="6309360" y="1783080"/>
            <a:ext cx="5303520" cy="1188720"/>
          </a:xfrm>
          <a:prstGeom prst="rect">
            <a:avLst/>
          </a:prstGeom>
          <a:solidFill>
            <a:srgbClr val="FEF2F2"/>
          </a:solidFill>
          <a:ln w="15875">
            <a:solidFill>
              <a:srgbClr val="9F1D1D"/>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9F1D1D"/>
                </a:solidFill>
                <a:latin typeface="Helvetica Neue"/>
              </a:rPr>
              <a:t>Gap: entry-length distribution across real reflections hasn't been pulled for this pass.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AGENT 6 OF 6</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Adaptation Agent</a:t>
            </a:r>
          </a:p>
        </p:txBody>
      </p:sp>
      <p:sp>
        <p:nvSpPr>
          <p:cNvPr id="5" name="TextBox 4"/>
          <p:cNvSpPr txBox="1"/>
          <p:nvPr/>
        </p:nvSpPr>
        <p:spPr>
          <a:xfrm>
            <a:off x="548640" y="1280160"/>
            <a:ext cx="11155680" cy="502920"/>
          </a:xfrm>
          <a:prstGeom prst="rect">
            <a:avLst/>
          </a:prstGeom>
          <a:noFill/>
        </p:spPr>
        <p:txBody>
          <a:bodyPr wrap="square">
            <a:spAutoFit/>
          </a:bodyPr>
          <a:lstStyle/>
          <a:p>
            <a:pPr algn="l">
              <a:spcAft>
                <a:spcPts val="600"/>
              </a:spcAft>
            </a:pPr>
            <a:r>
              <a:rPr sz="1400" b="0">
                <a:solidFill>
                  <a:srgbClr val="52525B"/>
                </a:solidFill>
                <a:latin typeface="Helvetica Neue"/>
              </a:rPr>
              <a:t>Adjusts milestones/tasks/accommodations based on reflection and completion signals.</a:t>
            </a:r>
          </a:p>
        </p:txBody>
      </p:sp>
      <p:sp>
        <p:nvSpPr>
          <p:cNvPr id="6" name="TextBox 5"/>
          <p:cNvSpPr txBox="1"/>
          <p:nvPr/>
        </p:nvSpPr>
        <p:spPr>
          <a:xfrm>
            <a:off x="548640" y="178308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Ground truth</a:t>
            </a:r>
          </a:p>
        </p:txBody>
      </p:sp>
      <p:sp>
        <p:nvSpPr>
          <p:cNvPr id="7" name="TextBox 6"/>
          <p:cNvSpPr txBox="1"/>
          <p:nvPr/>
        </p:nvSpPr>
        <p:spPr>
          <a:xfrm>
            <a:off x="548640" y="2057400"/>
            <a:ext cx="5486400" cy="1051560"/>
          </a:xfrm>
          <a:prstGeom prst="rect">
            <a:avLst/>
          </a:prstGeom>
          <a:noFill/>
        </p:spPr>
        <p:txBody>
          <a:bodyPr wrap="square">
            <a:spAutoFit/>
          </a:bodyPr>
          <a:lstStyle/>
          <a:p>
            <a:pPr algn="l">
              <a:spcAft>
                <a:spcPts val="600"/>
              </a:spcAft>
            </a:pPr>
            <a:r>
              <a:rPr sz="1200" b="0">
                <a:solidFill>
                  <a:srgbClr val="0F172A"/>
                </a:solidFill>
                <a:latin typeface="Helvetica Neue"/>
              </a:rPr>
              <a:t>Today: whether the agent found something to adapt at all. Zero adaptations is a real, different answer from low confidence.</a:t>
            </a:r>
          </a:p>
        </p:txBody>
      </p:sp>
      <p:sp>
        <p:nvSpPr>
          <p:cNvPr id="8" name="TextBox 7"/>
          <p:cNvSpPr txBox="1"/>
          <p:nvPr/>
        </p:nvSpPr>
        <p:spPr>
          <a:xfrm>
            <a:off x="548640" y="320040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Formula</a:t>
            </a:r>
          </a:p>
        </p:txBody>
      </p:sp>
      <p:sp>
        <p:nvSpPr>
          <p:cNvPr id="9" name="Rectangle 8"/>
          <p:cNvSpPr/>
          <p:nvPr/>
        </p:nvSpPr>
        <p:spPr>
          <a:xfrm>
            <a:off x="548640" y="3474720"/>
            <a:ext cx="5486400" cy="685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100">
                <a:solidFill>
                  <a:srgbClr val="5EEAD4"/>
                </a:solidFill>
                <a:latin typeface="Menlo"/>
              </a:rPr>
              <a:t>confidence = min(0.4 + 0.15 * adaptations_fired, 1.0)   (0.0 if none)</a:t>
            </a:r>
          </a:p>
        </p:txBody>
      </p:sp>
      <p:sp>
        <p:nvSpPr>
          <p:cNvPr id="10" name="TextBox 9"/>
          <p:cNvSpPr txBox="1"/>
          <p:nvPr/>
        </p:nvSpPr>
        <p:spPr>
          <a:xfrm>
            <a:off x="548640" y="4251960"/>
            <a:ext cx="5486400" cy="914400"/>
          </a:xfrm>
          <a:prstGeom prst="rect">
            <a:avLst/>
          </a:prstGeom>
          <a:noFill/>
        </p:spPr>
        <p:txBody>
          <a:bodyPr wrap="square">
            <a:spAutoFit/>
          </a:bodyPr>
          <a:lstStyle/>
          <a:p>
            <a:pPr algn="l">
              <a:spcAft>
                <a:spcPts val="600"/>
              </a:spcAft>
            </a:pPr>
            <a:r>
              <a:rPr sz="1100" b="0">
                <a:solidFill>
                  <a:srgbClr val="52525B"/>
                </a:solidFill>
                <a:latin typeface="Helvetica Neue"/>
              </a:rPr>
              <a:t>0.4 / 0.15 CHOSEN: a floor once anything changed, plus credit per adaptation, capping near 4 adaptations.</a:t>
            </a:r>
          </a:p>
        </p:txBody>
      </p:sp>
      <p:graphicFrame>
        <p:nvGraphicFramePr>
          <p:cNvPr id="11" name="Table 10"/>
          <p:cNvGraphicFramePr>
            <a:graphicFrameLocks noGrp="1"/>
          </p:cNvGraphicFramePr>
          <p:nvPr/>
        </p:nvGraphicFramePr>
        <p:xfrm>
          <a:off x="6309360" y="1783080"/>
          <a:ext cx="5852160" cy="621792"/>
        </p:xfrm>
        <a:graphic>
          <a:graphicData uri="http://schemas.openxmlformats.org/drawingml/2006/table">
            <a:tbl>
              <a:tblPr firstRow="1" bandRow="1">
                <a:tableStyleId>{5C22544A-7EE6-4342-B048-85BDC9FD1C3A}</a:tableStyleId>
              </a:tblPr>
              <a:tblGrid>
                <a:gridCol w="3200400"/>
                <a:gridCol w="2651760"/>
              </a:tblGrid>
              <a:tr h="310896">
                <a:tc>
                  <a:txBody>
                    <a:bodyPr/>
                    <a:lstStyle/>
                    <a:p>
                      <a:r>
                        <a:rPr sz="1200" b="1">
                          <a:solidFill>
                            <a:srgbClr val="FFFFFF"/>
                          </a:solidFill>
                        </a:rPr>
                        <a:t>Metric</a:t>
                      </a:r>
                    </a:p>
                  </a:txBody>
                  <a:tcPr>
                    <a:solidFill>
                      <a:srgbClr val="0F766E"/>
                    </a:solidFill>
                  </a:tcPr>
                </a:tc>
                <a:tc>
                  <a:txBody>
                    <a:bodyPr/>
                    <a:lstStyle/>
                    <a:p>
                      <a:r>
                        <a:rPr sz="1200" b="1">
                          <a:solidFill>
                            <a:srgbClr val="FFFFFF"/>
                          </a:solidFill>
                        </a:rPr>
                        <a:t>Value</a:t>
                      </a:r>
                    </a:p>
                  </a:txBody>
                  <a:tcPr>
                    <a:solidFill>
                      <a:srgbClr val="0F766E"/>
                    </a:solidFill>
                  </a:tcPr>
                </a:tc>
              </a:tr>
              <a:tr h="310896">
                <a:tc>
                  <a:txBody>
                    <a:bodyPr/>
                    <a:lstStyle/>
                    <a:p>
                      <a:r>
                        <a:rPr sz="1200">
                          <a:solidFill>
                            <a:srgbClr val="0F172A"/>
                          </a:solidFill>
                        </a:rPr>
                        <a:t>adaptation_outcomes rows</a:t>
                      </a:r>
                    </a:p>
                  </a:txBody>
                  <a:tcPr>
                    <a:solidFill>
                      <a:srgbClr val="FFFFFF"/>
                    </a:solidFill>
                  </a:tcPr>
                </a:tc>
                <a:tc>
                  <a:txBody>
                    <a:bodyPr/>
                    <a:lstStyle/>
                    <a:p>
                      <a:r>
                        <a:rPr sz="1200">
                          <a:solidFill>
                            <a:srgbClr val="0F172A"/>
                          </a:solidFill>
                        </a:rPr>
                        <a:t>0</a:t>
                      </a:r>
                    </a:p>
                  </a:txBody>
                  <a:tcPr>
                    <a:solidFill>
                      <a:srgbClr val="FFFFFF"/>
                    </a:solidFill>
                  </a:tcPr>
                </a:tc>
              </a:tr>
            </a:tbl>
          </a:graphicData>
        </a:graphic>
      </p:graphicFrame>
      <p:sp>
        <p:nvSpPr>
          <p:cNvPr id="12" name="Rectangle 11"/>
          <p:cNvSpPr/>
          <p:nvPr/>
        </p:nvSpPr>
        <p:spPr>
          <a:xfrm>
            <a:off x="6309360" y="2542032"/>
            <a:ext cx="5303520" cy="1188720"/>
          </a:xfrm>
          <a:prstGeom prst="rect">
            <a:avLst/>
          </a:prstGeom>
          <a:solidFill>
            <a:srgbClr val="FEF2F2"/>
          </a:solidFill>
          <a:ln w="15875">
            <a:solidFill>
              <a:srgbClr val="9F1D1D"/>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9F1D1D"/>
                </a:solidFill>
                <a:latin typeface="Helvetica Neue"/>
              </a:rPr>
              <a:t>Correction: we said no events log existed. WRONG — a table (adaptation_outcomes) already exists with a next_reflection_reward slot for exactly this. It has zero rows because nothing writes to it yet — smaller gap than "build from scratch."</a:t>
            </a:r>
          </a:p>
        </p:txBody>
      </p:sp>
      <p:sp>
        <p:nvSpPr>
          <p:cNvPr id="13" name="Rectangle 12"/>
          <p:cNvSpPr/>
          <p:nvPr/>
        </p:nvSpPr>
        <p:spPr>
          <a:xfrm>
            <a:off x="6309360" y="3867912"/>
            <a:ext cx="5303520" cy="2715768"/>
          </a:xfrm>
          <a:prstGeom prst="rect">
            <a:avLst/>
          </a:prstGeom>
          <a:solidFill>
            <a:srgbClr val="F0FDFA"/>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0F766E"/>
                </a:solidFill>
                <a:latin typeface="Helvetica Neue"/>
              </a:rPr>
              <a:t>Two things here. First, a correction: we told you this morning there was no log at all for this agent. That was wrong — the table exists, it's just never been written to. Second, Odosa's critique is the sharper point: right now this agent gets MORE confident the more things it changes, regardless of whether any of them actually helped. Her fix — ask, then re-ask a week later — is a real upgrade, and it fits directly into infrastructure that's already sitting there unused.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FOUR MORE AGENTS</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ResourceHub has its own agent system</a:t>
            </a:r>
          </a:p>
        </p:txBody>
      </p:sp>
      <p:sp>
        <p:nvSpPr>
          <p:cNvPr id="5" name="TextBox 4"/>
          <p:cNvSpPr txBox="1"/>
          <p:nvPr/>
        </p:nvSpPr>
        <p:spPr>
          <a:xfrm>
            <a:off x="548640" y="1280160"/>
            <a:ext cx="11155680" cy="640080"/>
          </a:xfrm>
          <a:prstGeom prst="rect">
            <a:avLst/>
          </a:prstGeom>
          <a:noFill/>
        </p:spPr>
        <p:txBody>
          <a:bodyPr wrap="square">
            <a:spAutoFit/>
          </a:bodyPr>
          <a:lstStyle/>
          <a:p>
            <a:pPr algn="l">
              <a:spcAft>
                <a:spcPts val="600"/>
              </a:spcAft>
            </a:pPr>
            <a:r>
              <a:rPr sz="1400" b="0">
                <a:solidFill>
                  <a:srgbClr val="52525B"/>
                </a:solidFill>
                <a:latin typeface="Helvetica Neue"/>
              </a:rPr>
              <a:t>Everything so far is Autinerary's path-planning orchestrator. ResourceHub (servicehub-mvp) runs a SEPARATE set of four agents, same Supabase project, own LLM client, own orchestrator.</a:t>
            </a:r>
          </a:p>
        </p:txBody>
      </p:sp>
      <p:graphicFrame>
        <p:nvGraphicFramePr>
          <p:cNvPr id="6" name="Table 5"/>
          <p:cNvGraphicFramePr>
            <a:graphicFrameLocks noGrp="1"/>
          </p:cNvGraphicFramePr>
          <p:nvPr/>
        </p:nvGraphicFramePr>
        <p:xfrm>
          <a:off x="548640" y="2103120"/>
          <a:ext cx="11064239" cy="2286000"/>
        </p:xfrm>
        <a:graphic>
          <a:graphicData uri="http://schemas.openxmlformats.org/drawingml/2006/table">
            <a:tbl>
              <a:tblPr firstRow="1" bandRow="1">
                <a:tableStyleId>{5C22544A-7EE6-4342-B048-85BDC9FD1C3A}</a:tableStyleId>
              </a:tblPr>
              <a:tblGrid>
                <a:gridCol w="3108960"/>
                <a:gridCol w="7955279"/>
              </a:tblGrid>
              <a:tr h="457200">
                <a:tc>
                  <a:txBody>
                    <a:bodyPr/>
                    <a:lstStyle/>
                    <a:p>
                      <a:r>
                        <a:rPr sz="1400" b="1">
                          <a:solidFill>
                            <a:srgbClr val="FFFFFF"/>
                          </a:solidFill>
                        </a:rPr>
                        <a:t>Agent</a:t>
                      </a:r>
                    </a:p>
                  </a:txBody>
                  <a:tcPr>
                    <a:solidFill>
                      <a:srgbClr val="0F766E"/>
                    </a:solidFill>
                  </a:tcPr>
                </a:tc>
                <a:tc>
                  <a:txBody>
                    <a:bodyPr/>
                    <a:lstStyle/>
                    <a:p>
                      <a:r>
                        <a:rPr sz="1400" b="1">
                          <a:solidFill>
                            <a:srgbClr val="FFFFFF"/>
                          </a:solidFill>
                        </a:rPr>
                        <a:t>Job</a:t>
                      </a:r>
                    </a:p>
                  </a:txBody>
                  <a:tcPr>
                    <a:solidFill>
                      <a:srgbClr val="0F766E"/>
                    </a:solidFill>
                  </a:tcPr>
                </a:tc>
              </a:tr>
              <a:tr h="457200">
                <a:tc>
                  <a:txBody>
                    <a:bodyPr/>
                    <a:lstStyle/>
                    <a:p>
                      <a:r>
                        <a:rPr sz="1400">
                          <a:solidFill>
                            <a:srgbClr val="0F172A"/>
                          </a:solidFill>
                        </a:rPr>
                        <a:t>Recommendation Agent</a:t>
                      </a:r>
                    </a:p>
                  </a:txBody>
                  <a:tcPr>
                    <a:solidFill>
                      <a:srgbClr val="FFFFFF"/>
                    </a:solidFill>
                  </a:tcPr>
                </a:tc>
                <a:tc>
                  <a:txBody>
                    <a:bodyPr/>
                    <a:lstStyle/>
                    <a:p>
                      <a:r>
                        <a:rPr sz="1400">
                          <a:solidFill>
                            <a:srgbClr val="0F172A"/>
                          </a:solidFill>
                        </a:rPr>
                        <a:t>Matches people to resources (collaborative filtering + LLM explanation)</a:t>
                      </a:r>
                    </a:p>
                  </a:txBody>
                  <a:tcPr>
                    <a:solidFill>
                      <a:srgbClr val="FFFFFF"/>
                    </a:solidFill>
                  </a:tcPr>
                </a:tc>
              </a:tr>
              <a:tr h="457200">
                <a:tc>
                  <a:txBody>
                    <a:bodyPr/>
                    <a:lstStyle/>
                    <a:p>
                      <a:r>
                        <a:rPr sz="1400">
                          <a:solidFill>
                            <a:srgbClr val="0F172A"/>
                          </a:solidFill>
                        </a:rPr>
                        <a:t>Pattern Agent</a:t>
                      </a:r>
                    </a:p>
                  </a:txBody>
                  <a:tcPr>
                    <a:solidFill>
                      <a:srgbClr val="F0FDFA"/>
                    </a:solidFill>
                  </a:tcPr>
                </a:tc>
                <a:tc>
                  <a:txBody>
                    <a:bodyPr/>
                    <a:lstStyle/>
                    <a:p>
                      <a:r>
                        <a:rPr sz="1400">
                          <a:solidFill>
                            <a:srgbClr val="0F172A"/>
                          </a:solidFill>
                        </a:rPr>
                        <a:t>Discovers patterns across the whole user population, unprompted</a:t>
                      </a:r>
                    </a:p>
                  </a:txBody>
                  <a:tcPr>
                    <a:solidFill>
                      <a:srgbClr val="F0FDFA"/>
                    </a:solidFill>
                  </a:tcPr>
                </a:tc>
              </a:tr>
              <a:tr h="457200">
                <a:tc>
                  <a:txBody>
                    <a:bodyPr/>
                    <a:lstStyle/>
                    <a:p>
                      <a:r>
                        <a:rPr sz="1400">
                          <a:solidFill>
                            <a:srgbClr val="0F172A"/>
                          </a:solidFill>
                        </a:rPr>
                        <a:t>Validation Agent</a:t>
                      </a:r>
                    </a:p>
                  </a:txBody>
                  <a:tcPr>
                    <a:solidFill>
                      <a:srgbClr val="FFFFFF"/>
                    </a:solidFill>
                  </a:tcPr>
                </a:tc>
                <a:tc>
                  <a:txBody>
                    <a:bodyPr/>
                    <a:lstStyle/>
                    <a:p>
                      <a:r>
                        <a:rPr sz="1400">
                          <a:solidFill>
                            <a:srgbClr val="0F172A"/>
                          </a:solidFill>
                        </a:rPr>
                        <a:t>Approves / rejects / flags submitted content and ratings</a:t>
                      </a:r>
                    </a:p>
                  </a:txBody>
                  <a:tcPr>
                    <a:solidFill>
                      <a:srgbClr val="FFFFFF"/>
                    </a:solidFill>
                  </a:tcPr>
                </a:tc>
              </a:tr>
              <a:tr h="457200">
                <a:tc>
                  <a:txBody>
                    <a:bodyPr/>
                    <a:lstStyle/>
                    <a:p>
                      <a:r>
                        <a:rPr sz="1400">
                          <a:solidFill>
                            <a:srgbClr val="0F172A"/>
                          </a:solidFill>
                        </a:rPr>
                        <a:t>Synthesis Engine</a:t>
                      </a:r>
                    </a:p>
                  </a:txBody>
                  <a:tcPr>
                    <a:solidFill>
                      <a:srgbClr val="F0FDFA"/>
                    </a:solidFill>
                  </a:tcPr>
                </a:tc>
                <a:tc>
                  <a:txBody>
                    <a:bodyPr/>
                    <a:lstStyle/>
                    <a:p>
                      <a:r>
                        <a:rPr sz="1400">
                          <a:solidFill>
                            <a:srgbClr val="0F172A"/>
                          </a:solidFill>
                        </a:rPr>
                        <a:t>Combines the three above into one ranked, explained result</a:t>
                      </a:r>
                    </a:p>
                  </a:txBody>
                  <a:tcPr>
                    <a:solidFill>
                      <a:srgbClr val="F0FDFA"/>
                    </a:solidFill>
                  </a:tcPr>
                </a:tc>
              </a:tr>
            </a:tbl>
          </a:graphicData>
        </a:graphic>
      </p:graphicFrame>
      <p:sp>
        <p:nvSpPr>
          <p:cNvPr id="7" name="Rectangle 6"/>
          <p:cNvSpPr/>
          <p:nvPr/>
        </p:nvSpPr>
        <p:spPr>
          <a:xfrm>
            <a:off x="548640" y="4434840"/>
            <a:ext cx="11155680" cy="1371600"/>
          </a:xfrm>
          <a:prstGeom prst="rect">
            <a:avLst/>
          </a:prstGeom>
          <a:solidFill>
            <a:srgbClr val="F0FDFA"/>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0F766E"/>
                </a:solidFill>
                <a:latin typeface="Helvetica Neue"/>
              </a:rPr>
              <a:t>Finding common to Recommendation + Validation: ResourceHub's 519 ratings ALL belong to team/test/synthetic seed personas (autism_parent@test.com, etc) -- 0 from a real organic user yet. Both agents ultimately wait on the same gap: real people rating real resources.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RESOURCEHUB · AGENT 1 OF 4</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Recommendation Agent</a:t>
            </a:r>
          </a:p>
        </p:txBody>
      </p:sp>
      <p:sp>
        <p:nvSpPr>
          <p:cNvPr id="5" name="TextBox 4"/>
          <p:cNvSpPr txBox="1"/>
          <p:nvPr/>
        </p:nvSpPr>
        <p:spPr>
          <a:xfrm>
            <a:off x="548640" y="1280160"/>
            <a:ext cx="11155680" cy="502920"/>
          </a:xfrm>
          <a:prstGeom prst="rect">
            <a:avLst/>
          </a:prstGeom>
          <a:noFill/>
        </p:spPr>
        <p:txBody>
          <a:bodyPr wrap="square">
            <a:spAutoFit/>
          </a:bodyPr>
          <a:lstStyle/>
          <a:p>
            <a:pPr algn="l">
              <a:spcAft>
                <a:spcPts val="600"/>
              </a:spcAft>
            </a:pPr>
            <a:r>
              <a:rPr sz="1400" b="0">
                <a:solidFill>
                  <a:srgbClr val="52525B"/>
                </a:solidFill>
                <a:latin typeface="Helvetica Neue"/>
              </a:rPr>
              <a:t>Collaborative filtering against similar users' ratings, LLM explanation layer, cross-session memory. Cold-start fallback ranks approved resources directly when no neighbours are found.</a:t>
            </a:r>
          </a:p>
        </p:txBody>
      </p:sp>
      <p:sp>
        <p:nvSpPr>
          <p:cNvPr id="6" name="TextBox 5"/>
          <p:cNvSpPr txBox="1"/>
          <p:nvPr/>
        </p:nvSpPr>
        <p:spPr>
          <a:xfrm>
            <a:off x="548640" y="178308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Ground truth</a:t>
            </a:r>
          </a:p>
        </p:txBody>
      </p:sp>
      <p:sp>
        <p:nvSpPr>
          <p:cNvPr id="7" name="TextBox 6"/>
          <p:cNvSpPr txBox="1"/>
          <p:nvPr/>
        </p:nvSpPr>
        <p:spPr>
          <a:xfrm>
            <a:off x="548640" y="2057400"/>
            <a:ext cx="5486400" cy="1051560"/>
          </a:xfrm>
          <a:prstGeom prst="rect">
            <a:avLst/>
          </a:prstGeom>
          <a:noFill/>
        </p:spPr>
        <p:txBody>
          <a:bodyPr wrap="square">
            <a:spAutoFit/>
          </a:bodyPr>
          <a:lstStyle/>
          <a:p>
            <a:pPr algn="l">
              <a:spcAft>
                <a:spcPts val="600"/>
              </a:spcAft>
            </a:pPr>
            <a:r>
              <a:rPr sz="1200" b="0">
                <a:solidFill>
                  <a:srgbClr val="0F172A"/>
                </a:solidFill>
                <a:latin typeface="Helvetica Neue"/>
              </a:rPr>
              <a:t>Similar users' ratings on a resource. Cold-start avoids 'no results.'</a:t>
            </a:r>
          </a:p>
        </p:txBody>
      </p:sp>
      <p:sp>
        <p:nvSpPr>
          <p:cNvPr id="8" name="TextBox 7"/>
          <p:cNvSpPr txBox="1"/>
          <p:nvPr/>
        </p:nvSpPr>
        <p:spPr>
          <a:xfrm>
            <a:off x="548640" y="320040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Formula</a:t>
            </a:r>
          </a:p>
        </p:txBody>
      </p:sp>
      <p:sp>
        <p:nvSpPr>
          <p:cNvPr id="9" name="Rectangle 8"/>
          <p:cNvSpPr/>
          <p:nvPr/>
        </p:nvSpPr>
        <p:spPr>
          <a:xfrm>
            <a:off x="548640" y="3474720"/>
            <a:ext cx="5486400" cy="685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100">
                <a:solidFill>
                  <a:srgbClr val="5EEAD4"/>
                </a:solidFill>
                <a:latin typeface="Menlo"/>
              </a:rPr>
              <a:t>confidence = min(similarUsers/50,1.0)*50 + (avgScore/100)*50</a:t>
            </a:r>
          </a:p>
        </p:txBody>
      </p:sp>
      <p:sp>
        <p:nvSpPr>
          <p:cNvPr id="10" name="TextBox 9"/>
          <p:cNvSpPr txBox="1"/>
          <p:nvPr/>
        </p:nvSpPr>
        <p:spPr>
          <a:xfrm>
            <a:off x="548640" y="4251960"/>
            <a:ext cx="5486400" cy="914400"/>
          </a:xfrm>
          <a:prstGeom prst="rect">
            <a:avLst/>
          </a:prstGeom>
          <a:noFill/>
        </p:spPr>
        <p:txBody>
          <a:bodyPr wrap="square">
            <a:spAutoFit/>
          </a:bodyPr>
          <a:lstStyle/>
          <a:p>
            <a:pPr algn="l">
              <a:spcAft>
                <a:spcPts val="600"/>
              </a:spcAft>
            </a:pPr>
            <a:r>
              <a:rPr sz="1100" b="0">
                <a:solidFill>
                  <a:srgbClr val="52525B"/>
                </a:solidFill>
                <a:latin typeface="Helvetica Neue"/>
              </a:rPr>
              <a:t>50/50 split and the /50 denominator are CHOSEN: equal weight to 'enough comparable people' and 'how good the match looks,' since either alone can mislead. Not derived from data.</a:t>
            </a:r>
          </a:p>
        </p:txBody>
      </p:sp>
      <p:graphicFrame>
        <p:nvGraphicFramePr>
          <p:cNvPr id="11" name="Table 10"/>
          <p:cNvGraphicFramePr>
            <a:graphicFrameLocks noGrp="1"/>
          </p:cNvGraphicFramePr>
          <p:nvPr/>
        </p:nvGraphicFramePr>
        <p:xfrm>
          <a:off x="6309360" y="1783080"/>
          <a:ext cx="5394960" cy="1243584"/>
        </p:xfrm>
        <a:graphic>
          <a:graphicData uri="http://schemas.openxmlformats.org/drawingml/2006/table">
            <a:tbl>
              <a:tblPr firstRow="1" bandRow="1">
                <a:tableStyleId>{5C22544A-7EE6-4342-B048-85BDC9FD1C3A}</a:tableStyleId>
              </a:tblPr>
              <a:tblGrid>
                <a:gridCol w="3383280"/>
                <a:gridCol w="2011680"/>
              </a:tblGrid>
              <a:tr h="310896">
                <a:tc>
                  <a:txBody>
                    <a:bodyPr/>
                    <a:lstStyle/>
                    <a:p>
                      <a:r>
                        <a:rPr sz="1200" b="1">
                          <a:solidFill>
                            <a:srgbClr val="FFFFFF"/>
                          </a:solidFill>
                        </a:rPr>
                        <a:t>Metric</a:t>
                      </a:r>
                    </a:p>
                  </a:txBody>
                  <a:tcPr>
                    <a:solidFill>
                      <a:srgbClr val="0F766E"/>
                    </a:solidFill>
                  </a:tcPr>
                </a:tc>
                <a:tc>
                  <a:txBody>
                    <a:bodyPr/>
                    <a:lstStyle/>
                    <a:p>
                      <a:r>
                        <a:rPr sz="1200" b="1">
                          <a:solidFill>
                            <a:srgbClr val="FFFFFF"/>
                          </a:solidFill>
                        </a:rPr>
                        <a:t>Value</a:t>
                      </a:r>
                    </a:p>
                  </a:txBody>
                  <a:tcPr>
                    <a:solidFill>
                      <a:srgbClr val="0F766E"/>
                    </a:solidFill>
                  </a:tcPr>
                </a:tc>
              </a:tr>
              <a:tr h="310896">
                <a:tc>
                  <a:txBody>
                    <a:bodyPr/>
                    <a:lstStyle/>
                    <a:p>
                      <a:r>
                        <a:rPr sz="1200">
                          <a:solidFill>
                            <a:srgbClr val="0F172A"/>
                          </a:solidFill>
                        </a:rPr>
                        <a:t>Approved resources</a:t>
                      </a:r>
                    </a:p>
                  </a:txBody>
                  <a:tcPr>
                    <a:solidFill>
                      <a:srgbClr val="FFFFFF"/>
                    </a:solidFill>
                  </a:tcPr>
                </a:tc>
                <a:tc>
                  <a:txBody>
                    <a:bodyPr/>
                    <a:lstStyle/>
                    <a:p>
                      <a:r>
                        <a:rPr sz="1200">
                          <a:solidFill>
                            <a:srgbClr val="0F172A"/>
                          </a:solidFill>
                        </a:rPr>
                        <a:t>95</a:t>
                      </a:r>
                    </a:p>
                  </a:txBody>
                  <a:tcPr>
                    <a:solidFill>
                      <a:srgbClr val="FFFFFF"/>
                    </a:solidFill>
                  </a:tcPr>
                </a:tc>
              </a:tr>
              <a:tr h="310896">
                <a:tc>
                  <a:txBody>
                    <a:bodyPr/>
                    <a:lstStyle/>
                    <a:p>
                      <a:r>
                        <a:rPr sz="1200">
                          <a:solidFill>
                            <a:srgbClr val="0F172A"/>
                          </a:solidFill>
                        </a:rPr>
                        <a:t>Have &gt;=1 rating</a:t>
                      </a:r>
                    </a:p>
                  </a:txBody>
                  <a:tcPr>
                    <a:solidFill>
                      <a:srgbClr val="F0FDFA"/>
                    </a:solidFill>
                  </a:tcPr>
                </a:tc>
                <a:tc>
                  <a:txBody>
                    <a:bodyPr/>
                    <a:lstStyle/>
                    <a:p>
                      <a:r>
                        <a:rPr sz="1200">
                          <a:solidFill>
                            <a:srgbClr val="0F172A"/>
                          </a:solidFill>
                        </a:rPr>
                        <a:t>72 (76%)</a:t>
                      </a:r>
                    </a:p>
                  </a:txBody>
                  <a:tcPr>
                    <a:solidFill>
                      <a:srgbClr val="F0FDFA"/>
                    </a:solidFill>
                  </a:tcPr>
                </a:tc>
              </a:tr>
              <a:tr h="310896">
                <a:tc>
                  <a:txBody>
                    <a:bodyPr/>
                    <a:lstStyle/>
                    <a:p>
                      <a:r>
                        <a:rPr sz="1200">
                          <a:solidFill>
                            <a:srgbClr val="0F172A"/>
                          </a:solidFill>
                        </a:rPr>
                        <a:t>...from a real user</a:t>
                      </a:r>
                    </a:p>
                  </a:txBody>
                  <a:tcPr>
                    <a:solidFill>
                      <a:srgbClr val="FFFFFF"/>
                    </a:solidFill>
                  </a:tcPr>
                </a:tc>
                <a:tc>
                  <a:txBody>
                    <a:bodyPr/>
                    <a:lstStyle/>
                    <a:p>
                      <a:r>
                        <a:rPr sz="1200">
                          <a:solidFill>
                            <a:srgbClr val="0F172A"/>
                          </a:solidFill>
                        </a:rPr>
                        <a:t>0 (all seed)</a:t>
                      </a:r>
                    </a:p>
                  </a:txBody>
                  <a:tcPr>
                    <a:solidFill>
                      <a:srgbClr val="FFFFFF"/>
                    </a:solidFill>
                  </a:tcPr>
                </a:tc>
              </a:tr>
            </a:tbl>
          </a:graphicData>
        </a:graphic>
      </p:graphicFrame>
      <p:sp>
        <p:nvSpPr>
          <p:cNvPr id="12" name="Rectangle 11"/>
          <p:cNvSpPr/>
          <p:nvPr/>
        </p:nvSpPr>
        <p:spPr>
          <a:xfrm>
            <a:off x="6309360" y="3163824"/>
            <a:ext cx="5303520" cy="1188720"/>
          </a:xfrm>
          <a:prstGeom prst="rect">
            <a:avLst/>
          </a:prstGeom>
          <a:solidFill>
            <a:srgbClr val="FEF2F2"/>
          </a:solidFill>
          <a:ln w="15875">
            <a:solidFill>
              <a:srgbClr val="9F1D1D"/>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9F1D1D"/>
                </a:solidFill>
                <a:latin typeface="Helvetica Neue"/>
              </a:rPr>
              <a:t>The 'similar users' half of this formula has no real signal yet -- all 519 ratings are seed/test data (slide 10).</a:t>
            </a:r>
          </a:p>
        </p:txBody>
      </p:sp>
      <p:sp>
        <p:nvSpPr>
          <p:cNvPr id="13" name="Rectangle 12"/>
          <p:cNvSpPr/>
          <p:nvPr/>
        </p:nvSpPr>
        <p:spPr>
          <a:xfrm>
            <a:off x="6309360" y="4489704"/>
            <a:ext cx="5303520" cy="2093976"/>
          </a:xfrm>
          <a:prstGeom prst="rect">
            <a:avLst/>
          </a:prstGeom>
          <a:solidFill>
            <a:srgbClr val="F0FDFA"/>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0F766E"/>
                </a:solidFill>
                <a:latin typeface="Helvetica Neue"/>
              </a:rPr>
              <a:t>Seventy-six percent of approved resources have a rating, which sounds solid until you ask whose — and per the last slide, none of them are from a real user yet.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RESOURCEHUB · AGENT 2 OF 4 — GROUP PATTERNS?</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Pattern Agent</a:t>
            </a:r>
          </a:p>
        </p:txBody>
      </p:sp>
      <p:sp>
        <p:nvSpPr>
          <p:cNvPr id="5" name="TextBox 4"/>
          <p:cNvSpPr txBox="1"/>
          <p:nvPr/>
        </p:nvSpPr>
        <p:spPr>
          <a:xfrm>
            <a:off x="548640" y="1280160"/>
            <a:ext cx="11155680" cy="548640"/>
          </a:xfrm>
          <a:prstGeom prst="rect">
            <a:avLst/>
          </a:prstGeom>
          <a:noFill/>
        </p:spPr>
        <p:txBody>
          <a:bodyPr wrap="square">
            <a:spAutoFit/>
          </a:bodyPr>
          <a:lstStyle/>
          <a:p>
            <a:pPr algn="l">
              <a:spcAft>
                <a:spcPts val="600"/>
              </a:spcAft>
            </a:pPr>
            <a:r>
              <a:rPr sz="1400" b="1">
                <a:solidFill>
                  <a:srgbClr val="0F766E"/>
                </a:solidFill>
                <a:latin typeface="Helvetica Neue"/>
              </a:rPr>
              <a:t>The direct answer to today's question: is there an agent that finds patterns BETWEEN groups and WITHIN groups, unsupervised?</a:t>
            </a:r>
          </a:p>
        </p:txBody>
      </p:sp>
      <p:sp>
        <p:nvSpPr>
          <p:cNvPr id="6" name="TextBox 5"/>
          <p:cNvSpPr txBox="1"/>
          <p:nvPr/>
        </p:nvSpPr>
        <p:spPr>
          <a:xfrm>
            <a:off x="548640" y="1874519"/>
            <a:ext cx="11155680" cy="365760"/>
          </a:xfrm>
          <a:prstGeom prst="rect">
            <a:avLst/>
          </a:prstGeom>
          <a:noFill/>
        </p:spPr>
        <p:txBody>
          <a:bodyPr wrap="square">
            <a:spAutoFit/>
          </a:bodyPr>
          <a:lstStyle/>
          <a:p>
            <a:pPr algn="l">
              <a:spcAft>
                <a:spcPts val="600"/>
              </a:spcAft>
            </a:pPr>
            <a:r>
              <a:rPr sz="1300" b="0">
                <a:solidFill>
                  <a:srgbClr val="0F172A"/>
                </a:solidFill>
                <a:latin typeface="Helvetica Neue"/>
              </a:rPr>
              <a:t>Short answer: partially, and only here. Autinerary's Pattern Recognition Agent (slide 5) is per-user only.</a:t>
            </a:r>
          </a:p>
        </p:txBody>
      </p:sp>
      <p:graphicFrame>
        <p:nvGraphicFramePr>
          <p:cNvPr id="7" name="Table 6"/>
          <p:cNvGraphicFramePr>
            <a:graphicFrameLocks noGrp="1"/>
          </p:cNvGraphicFramePr>
          <p:nvPr/>
        </p:nvGraphicFramePr>
        <p:xfrm>
          <a:off x="548640" y="2377440"/>
          <a:ext cx="5486400" cy="1828800"/>
        </p:xfrm>
        <a:graphic>
          <a:graphicData uri="http://schemas.openxmlformats.org/drawingml/2006/table">
            <a:tbl>
              <a:tblPr firstRow="1" bandRow="1">
                <a:tableStyleId>{5C22544A-7EE6-4342-B048-85BDC9FD1C3A}</a:tableStyleId>
              </a:tblPr>
              <a:tblGrid>
                <a:gridCol w="2377440"/>
                <a:gridCol w="3108960"/>
              </a:tblGrid>
              <a:tr h="457200">
                <a:tc>
                  <a:txBody>
                    <a:bodyPr/>
                    <a:lstStyle/>
                    <a:p>
                      <a:r>
                        <a:rPr sz="1100" b="1">
                          <a:solidFill>
                            <a:srgbClr val="FFFFFF"/>
                          </a:solidFill>
                        </a:rPr>
                        <a:t>This agent DOES</a:t>
                      </a:r>
                    </a:p>
                  </a:txBody>
                  <a:tcPr>
                    <a:solidFill>
                      <a:srgbClr val="0F766E"/>
                    </a:solidFill>
                  </a:tcPr>
                </a:tc>
                <a:tc>
                  <a:txBody>
                    <a:bodyPr/>
                    <a:lstStyle/>
                    <a:p/>
                  </a:txBody>
                  <a:tcPr>
                    <a:solidFill>
                      <a:srgbClr val="0F766E"/>
                    </a:solidFill>
                  </a:tcPr>
                </a:tc>
              </a:tr>
              <a:tr h="457200">
                <a:tc>
                  <a:txBody>
                    <a:bodyPr/>
                    <a:lstStyle/>
                    <a:p>
                      <a:r>
                        <a:rPr sz="1100">
                          <a:solidFill>
                            <a:srgbClr val="0F172A"/>
                          </a:solidFill>
                        </a:rPr>
                        <a:t>Within-group co-occurrence</a:t>
                      </a:r>
                    </a:p>
                  </a:txBody>
                  <a:tcPr>
                    <a:solidFill>
                      <a:srgbClr val="FFFFFF"/>
                    </a:solidFill>
                  </a:tcPr>
                </a:tc>
                <a:tc>
                  <a:txBody>
                    <a:bodyPr/>
                    <a:lstStyle/>
                    <a:p>
                      <a:r>
                        <a:rPr sz="1100">
                          <a:solidFill>
                            <a:srgbClr val="0F172A"/>
                          </a:solidFill>
                        </a:rPr>
                        <a:t>e.g. Autism+ADHD cluster together</a:t>
                      </a:r>
                    </a:p>
                  </a:txBody>
                  <a:tcPr>
                    <a:solidFill>
                      <a:srgbClr val="FFFFFF"/>
                    </a:solidFill>
                  </a:tcPr>
                </a:tc>
              </a:tr>
              <a:tr h="457200">
                <a:tc>
                  <a:txBody>
                    <a:bodyPr/>
                    <a:lstStyle/>
                    <a:p>
                      <a:r>
                        <a:rPr sz="1100">
                          <a:solidFill>
                            <a:srgbClr val="0F172A"/>
                          </a:solidFill>
                        </a:rPr>
                        <a:t>Resource affinity</a:t>
                      </a:r>
                    </a:p>
                  </a:txBody>
                  <a:tcPr>
                    <a:solidFill>
                      <a:srgbClr val="F0FDFA"/>
                    </a:solidFill>
                  </a:tcPr>
                </a:tc>
                <a:tc>
                  <a:txBody>
                    <a:bodyPr/>
                    <a:lstStyle/>
                    <a:p>
                      <a:r>
                        <a:rPr sz="1100">
                          <a:solidFill>
                            <a:srgbClr val="0F172A"/>
                          </a:solidFill>
                        </a:rPr>
                        <a:t>population-level collaborative filtering</a:t>
                      </a:r>
                    </a:p>
                  </a:txBody>
                  <a:tcPr>
                    <a:solidFill>
                      <a:srgbClr val="F0FDFA"/>
                    </a:solidFill>
                  </a:tcPr>
                </a:tc>
              </a:tr>
              <a:tr h="457200">
                <a:tc>
                  <a:txBody>
                    <a:bodyPr/>
                    <a:lstStyle/>
                    <a:p>
                      <a:r>
                        <a:rPr sz="1100">
                          <a:solidFill>
                            <a:srgbClr val="0F172A"/>
                          </a:solidFill>
                        </a:rPr>
                        <a:t>Unexpected preferences</a:t>
                      </a:r>
                    </a:p>
                  </a:txBody>
                  <a:tcPr>
                    <a:solidFill>
                      <a:srgbClr val="FFFFFF"/>
                    </a:solidFill>
                  </a:tcPr>
                </a:tc>
                <a:tc>
                  <a:txBody>
                    <a:bodyPr/>
                    <a:lstStyle/>
                    <a:p>
                      <a:r>
                        <a:rPr sz="1100">
                          <a:solidFill>
                            <a:srgbClr val="0F172A"/>
                          </a:solidFill>
                        </a:rPr>
                        <a:t>which barrier types over-index on a resource</a:t>
                      </a:r>
                    </a:p>
                  </a:txBody>
                  <a:tcPr>
                    <a:solidFill>
                      <a:srgbClr val="FFFFFF"/>
                    </a:solidFill>
                  </a:tcPr>
                </a:tc>
              </a:tr>
            </a:tbl>
          </a:graphicData>
        </a:graphic>
      </p:graphicFrame>
      <p:graphicFrame>
        <p:nvGraphicFramePr>
          <p:cNvPr id="8" name="Table 7"/>
          <p:cNvGraphicFramePr>
            <a:graphicFrameLocks noGrp="1"/>
          </p:cNvGraphicFramePr>
          <p:nvPr/>
        </p:nvGraphicFramePr>
        <p:xfrm>
          <a:off x="6309360" y="2377440"/>
          <a:ext cx="5303520" cy="1783080"/>
        </p:xfrm>
        <a:graphic>
          <a:graphicData uri="http://schemas.openxmlformats.org/drawingml/2006/table">
            <a:tbl>
              <a:tblPr firstRow="1" bandRow="1">
                <a:tableStyleId>{5C22544A-7EE6-4342-B048-85BDC9FD1C3A}</a:tableStyleId>
              </a:tblPr>
              <a:tblGrid>
                <a:gridCol w="2377440"/>
                <a:gridCol w="2926080"/>
              </a:tblGrid>
              <a:tr h="594360">
                <a:tc>
                  <a:txBody>
                    <a:bodyPr/>
                    <a:lstStyle/>
                    <a:p>
                      <a:r>
                        <a:rPr sz="1100" b="1">
                          <a:solidFill>
                            <a:srgbClr val="FFFFFF"/>
                          </a:solidFill>
                        </a:rPr>
                        <a:t>This agent does NOT do</a:t>
                      </a:r>
                    </a:p>
                  </a:txBody>
                  <a:tcPr>
                    <a:solidFill>
                      <a:srgbClr val="0F766E"/>
                    </a:solidFill>
                  </a:tcPr>
                </a:tc>
                <a:tc>
                  <a:txBody>
                    <a:bodyPr/>
                    <a:lstStyle/>
                    <a:p/>
                  </a:txBody>
                  <a:tcPr>
                    <a:solidFill>
                      <a:srgbClr val="0F766E"/>
                    </a:solidFill>
                  </a:tcPr>
                </a:tc>
              </a:tr>
              <a:tr h="594360">
                <a:tc>
                  <a:txBody>
                    <a:bodyPr/>
                    <a:lstStyle/>
                    <a:p>
                      <a:r>
                        <a:rPr sz="1100">
                          <a:solidFill>
                            <a:srgbClr val="0F172A"/>
                          </a:solidFill>
                        </a:rPr>
                        <a:t>Between-named-group compare</a:t>
                      </a:r>
                    </a:p>
                  </a:txBody>
                  <a:tcPr>
                    <a:solidFill>
                      <a:srgbClr val="FFFFFF"/>
                    </a:solidFill>
                  </a:tcPr>
                </a:tc>
                <a:tc>
                  <a:txBody>
                    <a:bodyPr/>
                    <a:lstStyle/>
                    <a:p>
                      <a:r>
                        <a:rPr sz="1100">
                          <a:solidFill>
                            <a:srgbClr val="0F172A"/>
                          </a:solidFill>
                        </a:rPr>
                        <a:t>e.g. Autism community vs. an ethnic community</a:t>
                      </a:r>
                    </a:p>
                  </a:txBody>
                  <a:tcPr>
                    <a:solidFill>
                      <a:srgbClr val="FFFFFF"/>
                    </a:solidFill>
                  </a:tcPr>
                </a:tc>
              </a:tr>
              <a:tr h="594360">
                <a:tc>
                  <a:txBody>
                    <a:bodyPr/>
                    <a:lstStyle/>
                    <a:p>
                      <a:r>
                        <a:rPr sz="1100">
                          <a:solidFill>
                            <a:srgbClr val="0F172A"/>
                          </a:solidFill>
                        </a:rPr>
                        <a:t>Subtype-level compare</a:t>
                      </a:r>
                    </a:p>
                  </a:txBody>
                  <a:tcPr>
                    <a:solidFill>
                      <a:srgbClr val="F0FDFA"/>
                    </a:solidFill>
                  </a:tcPr>
                </a:tc>
                <a:tc>
                  <a:txBody>
                    <a:bodyPr/>
                    <a:lstStyle/>
                    <a:p>
                      <a:r>
                        <a:rPr sz="1100">
                          <a:solidFill>
                            <a:srgbClr val="0F172A"/>
                          </a:solidFill>
                        </a:rPr>
                        <a:t>e.g. Autism Level 1 vs. Level 3 -- see note</a:t>
                      </a:r>
                    </a:p>
                  </a:txBody>
                  <a:tcPr>
                    <a:solidFill>
                      <a:srgbClr val="F0FDFA"/>
                    </a:solidFill>
                  </a:tcPr>
                </a:tc>
              </a:tr>
            </a:tbl>
          </a:graphicData>
        </a:graphic>
      </p:graphicFrame>
      <p:sp>
        <p:nvSpPr>
          <p:cNvPr id="9" name="Rectangle 8"/>
          <p:cNvSpPr/>
          <p:nvPr/>
        </p:nvSpPr>
        <p:spPr>
          <a:xfrm>
            <a:off x="6309360" y="4343400"/>
            <a:ext cx="5303520" cy="1463040"/>
          </a:xfrm>
          <a:prstGeom prst="rect">
            <a:avLst/>
          </a:prstGeom>
          <a:solidFill>
            <a:srgbClr val="FEF2F2"/>
          </a:solidFill>
          <a:ln w="15875">
            <a:solidFill>
              <a:srgbClr val="9F1D1D"/>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9F1D1D"/>
                </a:solidFill>
                <a:latin typeface="Helvetica Neue"/>
              </a:rPr>
              <a:t>Subtype data (Level 1/2/3, etc.) is deliberately stripped before any agent sees it, by design. Enabling that comparison means relaxing a privacy boundary on purpose -- a considered decision, not a small code change.</a:t>
            </a:r>
          </a:p>
        </p:txBody>
      </p:sp>
      <p:sp>
        <p:nvSpPr>
          <p:cNvPr id="10" name="Rectangle 9"/>
          <p:cNvSpPr/>
          <p:nvPr/>
        </p:nvSpPr>
        <p:spPr>
          <a:xfrm>
            <a:off x="548640" y="4343400"/>
            <a:ext cx="5486400" cy="1463040"/>
          </a:xfrm>
          <a:prstGeom prst="rect">
            <a:avLst/>
          </a:prstGeom>
          <a:solidFill>
            <a:srgbClr val="F0FDFA"/>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0F766E"/>
                </a:solidFill>
                <a:latin typeface="Helvetica Neue"/>
              </a:rPr>
              <a:t>Real data: 48 real users have barrier data; 25 have &gt;=2 distinct types -- below the default 5-user minimum for most combinations to surface. Same fix as Autinerary's Pattern Recognition: more real users.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RESOURCEHUB · AGENT 3 OF 4</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Validation Agent</a:t>
            </a:r>
          </a:p>
        </p:txBody>
      </p:sp>
      <p:sp>
        <p:nvSpPr>
          <p:cNvPr id="5" name="TextBox 4"/>
          <p:cNvSpPr txBox="1"/>
          <p:nvPr/>
        </p:nvSpPr>
        <p:spPr>
          <a:xfrm>
            <a:off x="548640" y="1280160"/>
            <a:ext cx="11155680" cy="502920"/>
          </a:xfrm>
          <a:prstGeom prst="rect">
            <a:avLst/>
          </a:prstGeom>
          <a:noFill/>
        </p:spPr>
        <p:txBody>
          <a:bodyPr wrap="square">
            <a:spAutoFit/>
          </a:bodyPr>
          <a:lstStyle/>
          <a:p>
            <a:pPr algn="l">
              <a:spcAft>
                <a:spcPts val="600"/>
              </a:spcAft>
            </a:pPr>
            <a:r>
              <a:rPr sz="1400" b="0">
                <a:solidFill>
                  <a:srgbClr val="52525B"/>
                </a:solidFill>
                <a:latin typeface="Helvetica Neue"/>
              </a:rPr>
              <a:t>Four independent checks (Content Quality, Spam, User Trust, Behavioral) -&gt; approve / reject / flag for review.</a:t>
            </a:r>
          </a:p>
        </p:txBody>
      </p:sp>
      <p:sp>
        <p:nvSpPr>
          <p:cNvPr id="6" name="TextBox 5"/>
          <p:cNvSpPr txBox="1"/>
          <p:nvPr/>
        </p:nvSpPr>
        <p:spPr>
          <a:xfrm>
            <a:off x="548640" y="178308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Ground truth</a:t>
            </a:r>
          </a:p>
        </p:txBody>
      </p:sp>
      <p:sp>
        <p:nvSpPr>
          <p:cNvPr id="7" name="TextBox 6"/>
          <p:cNvSpPr txBox="1"/>
          <p:nvPr/>
        </p:nvSpPr>
        <p:spPr>
          <a:xfrm>
            <a:off x="548640" y="2057400"/>
            <a:ext cx="5486400" cy="1051560"/>
          </a:xfrm>
          <a:prstGeom prst="rect">
            <a:avLst/>
          </a:prstGeom>
          <a:noFill/>
        </p:spPr>
        <p:txBody>
          <a:bodyPr wrap="square">
            <a:spAutoFit/>
          </a:bodyPr>
          <a:lstStyle/>
          <a:p>
            <a:pPr algn="l">
              <a:spcAft>
                <a:spcPts val="600"/>
              </a:spcAft>
            </a:pPr>
            <a:r>
              <a:rPr sz="1200" b="0">
                <a:solidFill>
                  <a:srgbClr val="0F172A"/>
                </a:solidFill>
                <a:latin typeface="Helvetica Neue"/>
              </a:rPr>
              <a:t>The four check scores themselves. Wide 'flag for review' middle band is deliberate -- uncertain cases go to a person on purpose.</a:t>
            </a:r>
          </a:p>
        </p:txBody>
      </p:sp>
      <p:sp>
        <p:nvSpPr>
          <p:cNvPr id="8" name="TextBox 7"/>
          <p:cNvSpPr txBox="1"/>
          <p:nvPr/>
        </p:nvSpPr>
        <p:spPr>
          <a:xfrm>
            <a:off x="548640" y="3200400"/>
            <a:ext cx="5486400" cy="274320"/>
          </a:xfrm>
          <a:prstGeom prst="rect">
            <a:avLst/>
          </a:prstGeom>
          <a:noFill/>
        </p:spPr>
        <p:txBody>
          <a:bodyPr wrap="square">
            <a:spAutoFit/>
          </a:bodyPr>
          <a:lstStyle/>
          <a:p>
            <a:pPr algn="l">
              <a:spcAft>
                <a:spcPts val="600"/>
              </a:spcAft>
            </a:pPr>
            <a:r>
              <a:rPr sz="1300" b="1">
                <a:solidFill>
                  <a:srgbClr val="0F766E"/>
                </a:solidFill>
                <a:latin typeface="Helvetica Neue"/>
              </a:rPr>
              <a:t>Formula</a:t>
            </a:r>
          </a:p>
        </p:txBody>
      </p:sp>
      <p:sp>
        <p:nvSpPr>
          <p:cNvPr id="9" name="Rectangle 8"/>
          <p:cNvSpPr/>
          <p:nvPr/>
        </p:nvSpPr>
        <p:spPr>
          <a:xfrm>
            <a:off x="548640" y="3474720"/>
            <a:ext cx="5486400" cy="685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100">
                <a:solidFill>
                  <a:srgbClr val="5EEAD4"/>
                </a:solidFill>
                <a:latin typeface="Menlo"/>
              </a:rPr>
              <a:t>confidence = mean(4 check scores)</a:t>
            </a:r>
          </a:p>
          <a:p>
            <a:r>
              <a:rPr sz="1100">
                <a:solidFill>
                  <a:srgbClr val="5EEAD4"/>
                </a:solidFill>
                <a:latin typeface="Menlo"/>
              </a:rPr>
              <a:t>approve: trust&gt;70 &amp; quality&gt;80 &amp; spam&lt;30</a:t>
            </a:r>
          </a:p>
          <a:p>
            <a:r>
              <a:rPr sz="1100">
                <a:solidFill>
                  <a:srgbClr val="5EEAD4"/>
                </a:solidFill>
                <a:latin typeface="Menlo"/>
              </a:rPr>
              <a:t>reject: trust&lt;30 OR quality&lt;40 OR spam&gt;=70</a:t>
            </a:r>
          </a:p>
        </p:txBody>
      </p:sp>
      <p:sp>
        <p:nvSpPr>
          <p:cNvPr id="10" name="TextBox 9"/>
          <p:cNvSpPr txBox="1"/>
          <p:nvPr/>
        </p:nvSpPr>
        <p:spPr>
          <a:xfrm>
            <a:off x="548640" y="4251960"/>
            <a:ext cx="5486400" cy="914400"/>
          </a:xfrm>
          <a:prstGeom prst="rect">
            <a:avLst/>
          </a:prstGeom>
          <a:noFill/>
        </p:spPr>
        <p:txBody>
          <a:bodyPr wrap="square">
            <a:spAutoFit/>
          </a:bodyPr>
          <a:lstStyle/>
          <a:p>
            <a:pPr algn="l">
              <a:spcAft>
                <a:spcPts val="600"/>
              </a:spcAft>
            </a:pPr>
            <a:r>
              <a:rPr sz="1100" b="0">
                <a:solidFill>
                  <a:srgbClr val="52525B"/>
                </a:solidFill>
                <a:latin typeface="Helvetica Neue"/>
              </a:rPr>
              <a:t>70/80/30 and 30/40/70 are CHOSEN cutoffs, not fitted. Trust score: baseline 50, capped +/- adjustments for age, contributions, votes, violations -- all chosen caps, not fitted weights.</a:t>
            </a:r>
          </a:p>
        </p:txBody>
      </p:sp>
      <p:graphicFrame>
        <p:nvGraphicFramePr>
          <p:cNvPr id="11" name="Table 10"/>
          <p:cNvGraphicFramePr>
            <a:graphicFrameLocks noGrp="1"/>
          </p:cNvGraphicFramePr>
          <p:nvPr/>
        </p:nvGraphicFramePr>
        <p:xfrm>
          <a:off x="6309360" y="1783080"/>
          <a:ext cx="5394960" cy="621792"/>
        </p:xfrm>
        <a:graphic>
          <a:graphicData uri="http://schemas.openxmlformats.org/drawingml/2006/table">
            <a:tbl>
              <a:tblPr firstRow="1" bandRow="1">
                <a:tableStyleId>{5C22544A-7EE6-4342-B048-85BDC9FD1C3A}</a:tableStyleId>
              </a:tblPr>
              <a:tblGrid>
                <a:gridCol w="2743200"/>
                <a:gridCol w="2651760"/>
              </a:tblGrid>
              <a:tr h="310896">
                <a:tc>
                  <a:txBody>
                    <a:bodyPr/>
                    <a:lstStyle/>
                    <a:p>
                      <a:r>
                        <a:rPr sz="1200" b="1">
                          <a:solidFill>
                            <a:srgbClr val="FFFFFF"/>
                          </a:solidFill>
                        </a:rPr>
                        <a:t>Metric</a:t>
                      </a:r>
                    </a:p>
                  </a:txBody>
                  <a:tcPr>
                    <a:solidFill>
                      <a:srgbClr val="0F766E"/>
                    </a:solidFill>
                  </a:tcPr>
                </a:tc>
                <a:tc>
                  <a:txBody>
                    <a:bodyPr/>
                    <a:lstStyle/>
                    <a:p>
                      <a:r>
                        <a:rPr sz="1200" b="1">
                          <a:solidFill>
                            <a:srgbClr val="FFFFFF"/>
                          </a:solidFill>
                        </a:rPr>
                        <a:t>Value</a:t>
                      </a:r>
                    </a:p>
                  </a:txBody>
                  <a:tcPr>
                    <a:solidFill>
                      <a:srgbClr val="0F766E"/>
                    </a:solidFill>
                  </a:tcPr>
                </a:tc>
              </a:tr>
              <a:tr h="310896">
                <a:tc>
                  <a:txBody>
                    <a:bodyPr/>
                    <a:lstStyle/>
                    <a:p>
                      <a:r>
                        <a:rPr sz="1200">
                          <a:solidFill>
                            <a:srgbClr val="0F172A"/>
                          </a:solidFill>
                        </a:rPr>
                        <a:t>moderation_queue rows</a:t>
                      </a:r>
                    </a:p>
                  </a:txBody>
                  <a:tcPr>
                    <a:solidFill>
                      <a:srgbClr val="FFFFFF"/>
                    </a:solidFill>
                  </a:tcPr>
                </a:tc>
                <a:tc>
                  <a:txBody>
                    <a:bodyPr/>
                    <a:lstStyle/>
                    <a:p>
                      <a:r>
                        <a:rPr sz="1200">
                          <a:solidFill>
                            <a:srgbClr val="0F172A"/>
                          </a:solidFill>
                        </a:rPr>
                        <a:t>0</a:t>
                      </a:r>
                    </a:p>
                  </a:txBody>
                  <a:tcPr>
                    <a:solidFill>
                      <a:srgbClr val="FFFFFF"/>
                    </a:solidFill>
                  </a:tcPr>
                </a:tc>
              </a:tr>
            </a:tbl>
          </a:graphicData>
        </a:graphic>
      </p:graphicFrame>
      <p:sp>
        <p:nvSpPr>
          <p:cNvPr id="12" name="Rectangle 11"/>
          <p:cNvSpPr/>
          <p:nvPr/>
        </p:nvSpPr>
        <p:spPr>
          <a:xfrm>
            <a:off x="6309360" y="2542032"/>
            <a:ext cx="5303520" cy="1188720"/>
          </a:xfrm>
          <a:prstGeom prst="rect">
            <a:avLst/>
          </a:prstGeom>
          <a:solidFill>
            <a:srgbClr val="FEF2F2"/>
          </a:solidFill>
          <a:ln w="15875">
            <a:solidFill>
              <a:srgbClr val="9F1D1D"/>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9F1D1D"/>
                </a:solidFill>
                <a:latin typeface="Helvetica Neue"/>
              </a:rPr>
              <a:t>The approve/reject/flag logic runs, but nothing has been logged to evaluate it against real decisions yet -- zero ground truth so far.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RESOURCEHUB · AGENT 4 OF 4</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Synthesis Engine</a:t>
            </a:r>
          </a:p>
        </p:txBody>
      </p:sp>
      <p:sp>
        <p:nvSpPr>
          <p:cNvPr id="5" name="TextBox 4"/>
          <p:cNvSpPr txBox="1"/>
          <p:nvPr/>
        </p:nvSpPr>
        <p:spPr>
          <a:xfrm>
            <a:off x="548640" y="1371600"/>
            <a:ext cx="11155680" cy="731520"/>
          </a:xfrm>
          <a:prstGeom prst="rect">
            <a:avLst/>
          </a:prstGeom>
          <a:noFill/>
        </p:spPr>
        <p:txBody>
          <a:bodyPr wrap="square">
            <a:spAutoFit/>
          </a:bodyPr>
          <a:lstStyle/>
          <a:p>
            <a:pPr algn="l">
              <a:spcAft>
                <a:spcPts val="600"/>
              </a:spcAft>
            </a:pPr>
            <a:r>
              <a:rPr sz="1500" b="0">
                <a:solidFill>
                  <a:srgbClr val="0F172A"/>
                </a:solidFill>
                <a:latin typeface="Helvetica Neue"/>
              </a:rPr>
              <a:t>Combines Recommendation + Pattern + Validation into one ranked, explained result. Filters out anything Validation rejected, generates explanations, bandit-refines the synthesis strategy against learned reward when enough signal exists.</a:t>
            </a:r>
          </a:p>
        </p:txBody>
      </p:sp>
      <p:sp>
        <p:nvSpPr>
          <p:cNvPr id="6" name="Rectangle 5"/>
          <p:cNvSpPr/>
          <p:nvPr/>
        </p:nvSpPr>
        <p:spPr>
          <a:xfrm>
            <a:off x="548640" y="2468880"/>
            <a:ext cx="11155680" cy="1463040"/>
          </a:xfrm>
          <a:prstGeom prst="rect">
            <a:avLst/>
          </a:prstGeom>
          <a:solidFill>
            <a:srgbClr val="F0FDFA"/>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0F766E"/>
                </a:solidFill>
                <a:latin typeface="Helvetica Neue"/>
              </a:rPr>
              <a:t>Ground truth: none independently. Synthesis Engine's correctness is entirely a function of the three agents it combines -- there is no separate metric to evaluate it on its own.</a:t>
            </a:r>
          </a:p>
        </p:txBody>
      </p:sp>
      <p:sp>
        <p:nvSpPr>
          <p:cNvPr id="7" name="Rectangle 6"/>
          <p:cNvSpPr/>
          <p:nvPr/>
        </p:nvSpPr>
        <p:spPr>
          <a:xfrm>
            <a:off x="548640" y="4114800"/>
            <a:ext cx="11155680" cy="1463040"/>
          </a:xfrm>
          <a:prstGeom prst="rect">
            <a:avLst/>
          </a:prstGeom>
          <a:solidFill>
            <a:srgbClr val="FFFBEB"/>
          </a:solidFill>
          <a:ln w="1587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78350F"/>
                </a:solidFill>
                <a:latin typeface="Helvetica Neue"/>
              </a:rPr>
              <a:t>If any of Recommendation, Pattern, or Validation's real-data gaps above aren't closed, Synthesis can't be meaningfully evaluated either -- it inherits every upstream gap.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GAP ANALYSIS</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What this tells us to prioritize</a:t>
            </a:r>
          </a:p>
        </p:txBody>
      </p:sp>
      <p:graphicFrame>
        <p:nvGraphicFramePr>
          <p:cNvPr id="5" name="Table 4"/>
          <p:cNvGraphicFramePr>
            <a:graphicFrameLocks noGrp="1"/>
          </p:cNvGraphicFramePr>
          <p:nvPr/>
        </p:nvGraphicFramePr>
        <p:xfrm>
          <a:off x="548640" y="1325880"/>
          <a:ext cx="11064240" cy="3840480"/>
        </p:xfrm>
        <a:graphic>
          <a:graphicData uri="http://schemas.openxmlformats.org/drawingml/2006/table">
            <a:tbl>
              <a:tblPr firstRow="1" bandRow="1">
                <a:tableStyleId>{5C22544A-7EE6-4342-B048-85BDC9FD1C3A}</a:tableStyleId>
              </a:tblPr>
              <a:tblGrid>
                <a:gridCol w="2926080"/>
                <a:gridCol w="2926080"/>
                <a:gridCol w="5212080"/>
              </a:tblGrid>
              <a:tr h="384048">
                <a:tc>
                  <a:txBody>
                    <a:bodyPr/>
                    <a:lstStyle/>
                    <a:p>
                      <a:r>
                        <a:rPr sz="1100" b="1">
                          <a:solidFill>
                            <a:srgbClr val="FFFFFF"/>
                          </a:solidFill>
                        </a:rPr>
                        <a:t>Agent</a:t>
                      </a:r>
                    </a:p>
                  </a:txBody>
                  <a:tcPr>
                    <a:solidFill>
                      <a:srgbClr val="0F766E"/>
                    </a:solidFill>
                  </a:tcPr>
                </a:tc>
                <a:tc>
                  <a:txBody>
                    <a:bodyPr/>
                    <a:lstStyle/>
                    <a:p>
                      <a:r>
                        <a:rPr sz="1100" b="1">
                          <a:solidFill>
                            <a:srgbClr val="FFFFFF"/>
                          </a:solidFill>
                        </a:rPr>
                        <a:t>Status</a:t>
                      </a:r>
                    </a:p>
                  </a:txBody>
                  <a:tcPr>
                    <a:solidFill>
                      <a:srgbClr val="0F766E"/>
                    </a:solidFill>
                  </a:tcPr>
                </a:tc>
                <a:tc>
                  <a:txBody>
                    <a:bodyPr/>
                    <a:lstStyle/>
                    <a:p>
                      <a:r>
                        <a:rPr sz="1100" b="1">
                          <a:solidFill>
                            <a:srgbClr val="FFFFFF"/>
                          </a:solidFill>
                        </a:rPr>
                        <a:t>What would move it</a:t>
                      </a:r>
                    </a:p>
                  </a:txBody>
                  <a:tcPr>
                    <a:solidFill>
                      <a:srgbClr val="0F766E"/>
                    </a:solidFill>
                  </a:tcPr>
                </a:tc>
              </a:tr>
              <a:tr h="384048">
                <a:tc>
                  <a:txBody>
                    <a:bodyPr/>
                    <a:lstStyle/>
                    <a:p>
                      <a:r>
                        <a:rPr sz="1100">
                          <a:solidFill>
                            <a:srgbClr val="0F172A"/>
                          </a:solidFill>
                        </a:rPr>
                        <a:t>Pattern Recognition (Autinerary)</a:t>
                      </a:r>
                    </a:p>
                  </a:txBody>
                  <a:tcPr>
                    <a:solidFill>
                      <a:srgbClr val="FFFFFF"/>
                    </a:solidFill>
                  </a:tcPr>
                </a:tc>
                <a:tc>
                  <a:txBody>
                    <a:bodyPr/>
                    <a:lstStyle/>
                    <a:p>
                      <a:r>
                        <a:rPr sz="1100">
                          <a:solidFill>
                            <a:srgbClr val="0F172A"/>
                          </a:solidFill>
                        </a:rPr>
                        <a:t>Pool bigger than thought (36)</a:t>
                      </a:r>
                    </a:p>
                  </a:txBody>
                  <a:tcPr>
                    <a:solidFill>
                      <a:srgbClr val="FFFFFF"/>
                    </a:solidFill>
                  </a:tcPr>
                </a:tc>
                <a:tc>
                  <a:txBody>
                    <a:bodyPr/>
                    <a:lstStyle/>
                    <a:p>
                      <a:r>
                        <a:rPr sz="1100">
                          <a:solidFill>
                            <a:srgbClr val="0F172A"/>
                          </a:solidFill>
                        </a:rPr>
                        <a:t>More real users with embeddings</a:t>
                      </a:r>
                    </a:p>
                  </a:txBody>
                  <a:tcPr>
                    <a:solidFill>
                      <a:srgbClr val="FFFFFF"/>
                    </a:solidFill>
                  </a:tcPr>
                </a:tc>
              </a:tr>
              <a:tr h="384048">
                <a:tc>
                  <a:txBody>
                    <a:bodyPr/>
                    <a:lstStyle/>
                    <a:p>
                      <a:r>
                        <a:rPr sz="1100">
                          <a:solidFill>
                            <a:srgbClr val="0F172A"/>
                          </a:solidFill>
                        </a:rPr>
                        <a:t>Tool Recommendation</a:t>
                      </a:r>
                    </a:p>
                  </a:txBody>
                  <a:tcPr>
                    <a:solidFill>
                      <a:srgbClr val="F0FDFA"/>
                    </a:solidFill>
                  </a:tcPr>
                </a:tc>
                <a:tc>
                  <a:txBody>
                    <a:bodyPr/>
                    <a:lstStyle/>
                    <a:p>
                      <a:r>
                        <a:rPr sz="1100">
                          <a:solidFill>
                            <a:srgbClr val="0F172A"/>
                          </a:solidFill>
                        </a:rPr>
                        <a:t>Formula solid, query missing</a:t>
                      </a:r>
                    </a:p>
                  </a:txBody>
                  <a:tcPr>
                    <a:solidFill>
                      <a:srgbClr val="F0FDFA"/>
                    </a:solidFill>
                  </a:tcPr>
                </a:tc>
                <a:tc>
                  <a:txBody>
                    <a:bodyPr/>
                    <a:lstStyle/>
                    <a:p>
                      <a:r>
                        <a:rPr sz="1100">
                          <a:solidFill>
                            <a:srgbClr val="0F172A"/>
                          </a:solidFill>
                        </a:rPr>
                        <a:t>Review-coverage across 95 resources</a:t>
                      </a:r>
                    </a:p>
                  </a:txBody>
                  <a:tcPr>
                    <a:solidFill>
                      <a:srgbClr val="F0FDFA"/>
                    </a:solidFill>
                  </a:tcPr>
                </a:tc>
              </a:tr>
              <a:tr h="384048">
                <a:tc>
                  <a:txBody>
                    <a:bodyPr/>
                    <a:lstStyle/>
                    <a:p>
                      <a:r>
                        <a:rPr sz="1100">
                          <a:solidFill>
                            <a:srgbClr val="0F172A"/>
                          </a:solidFill>
                        </a:rPr>
                        <a:t>Path Planning</a:t>
                      </a:r>
                    </a:p>
                  </a:txBody>
                  <a:tcPr>
                    <a:solidFill>
                      <a:srgbClr val="FFFFFF"/>
                    </a:solidFill>
                  </a:tcPr>
                </a:tc>
                <a:tc>
                  <a:txBody>
                    <a:bodyPr/>
                    <a:lstStyle/>
                    <a:p>
                      <a:r>
                        <a:rPr sz="1100">
                          <a:solidFill>
                            <a:srgbClr val="0F172A"/>
                          </a:solidFill>
                        </a:rPr>
                        <a:t>No milestone-level validation yet</a:t>
                      </a:r>
                    </a:p>
                  </a:txBody>
                  <a:tcPr>
                    <a:solidFill>
                      <a:srgbClr val="FFFFFF"/>
                    </a:solidFill>
                  </a:tcPr>
                </a:tc>
                <a:tc>
                  <a:txBody>
                    <a:bodyPr/>
                    <a:lstStyle/>
                    <a:p>
                      <a:r>
                        <a:rPr sz="1100">
                          <a:solidFill>
                            <a:srgbClr val="0F172A"/>
                          </a:solidFill>
                        </a:rPr>
                        <a:t>Extract nameSource; design rating loop</a:t>
                      </a:r>
                    </a:p>
                  </a:txBody>
                  <a:tcPr>
                    <a:solidFill>
                      <a:srgbClr val="FFFFFF"/>
                    </a:solidFill>
                  </a:tcPr>
                </a:tc>
              </a:tr>
              <a:tr h="384048">
                <a:tc>
                  <a:txBody>
                    <a:bodyPr/>
                    <a:lstStyle/>
                    <a:p>
                      <a:r>
                        <a:rPr sz="1100">
                          <a:solidFill>
                            <a:srgbClr val="0F172A"/>
                          </a:solidFill>
                        </a:rPr>
                        <a:t>Calendar Optimization</a:t>
                      </a:r>
                    </a:p>
                  </a:txBody>
                  <a:tcPr>
                    <a:solidFill>
                      <a:srgbClr val="F0FDFA"/>
                    </a:solidFill>
                  </a:tcPr>
                </a:tc>
                <a:tc>
                  <a:txBody>
                    <a:bodyPr/>
                    <a:lstStyle/>
                    <a:p>
                      <a:r>
                        <a:rPr sz="1100">
                          <a:solidFill>
                            <a:srgbClr val="0F172A"/>
                          </a:solidFill>
                        </a:rPr>
                        <a:t>Formula solid, query missing</a:t>
                      </a:r>
                    </a:p>
                  </a:txBody>
                  <a:tcPr>
                    <a:solidFill>
                      <a:srgbClr val="F0FDFA"/>
                    </a:solidFill>
                  </a:tcPr>
                </a:tc>
                <a:tc>
                  <a:txBody>
                    <a:bodyPr/>
                    <a:lstStyle/>
                    <a:p>
                      <a:r>
                        <a:rPr sz="1100">
                          <a:solidFill>
                            <a:srgbClr val="0F172A"/>
                          </a:solidFill>
                        </a:rPr>
                        <a:t>Real per-user weekly fill rate</a:t>
                      </a:r>
                    </a:p>
                  </a:txBody>
                  <a:tcPr>
                    <a:solidFill>
                      <a:srgbClr val="F0FDFA"/>
                    </a:solidFill>
                  </a:tcPr>
                </a:tc>
              </a:tr>
              <a:tr h="384048">
                <a:tc>
                  <a:txBody>
                    <a:bodyPr/>
                    <a:lstStyle/>
                    <a:p>
                      <a:r>
                        <a:rPr sz="1100">
                          <a:solidFill>
                            <a:srgbClr val="0F172A"/>
                          </a:solidFill>
                        </a:rPr>
                        <a:t>Reflection Analysis</a:t>
                      </a:r>
                    </a:p>
                  </a:txBody>
                  <a:tcPr>
                    <a:solidFill>
                      <a:srgbClr val="FFFFFF"/>
                    </a:solidFill>
                  </a:tcPr>
                </a:tc>
                <a:tc>
                  <a:txBody>
                    <a:bodyPr/>
                    <a:lstStyle/>
                    <a:p>
                      <a:r>
                        <a:rPr sz="1100">
                          <a:solidFill>
                            <a:srgbClr val="0F172A"/>
                          </a:solidFill>
                        </a:rPr>
                        <a:t>Formula solid, query missing</a:t>
                      </a:r>
                    </a:p>
                  </a:txBody>
                  <a:tcPr>
                    <a:solidFill>
                      <a:srgbClr val="FFFFFF"/>
                    </a:solidFill>
                  </a:tcPr>
                </a:tc>
                <a:tc>
                  <a:txBody>
                    <a:bodyPr/>
                    <a:lstStyle/>
                    <a:p>
                      <a:r>
                        <a:rPr sz="1100">
                          <a:solidFill>
                            <a:srgbClr val="0F172A"/>
                          </a:solidFill>
                        </a:rPr>
                        <a:t>Entry-length distribution</a:t>
                      </a:r>
                    </a:p>
                  </a:txBody>
                  <a:tcPr>
                    <a:solidFill>
                      <a:srgbClr val="FFFFFF"/>
                    </a:solidFill>
                  </a:tcPr>
                </a:tc>
              </a:tr>
              <a:tr h="384048">
                <a:tc>
                  <a:txBody>
                    <a:bodyPr/>
                    <a:lstStyle/>
                    <a:p>
                      <a:r>
                        <a:rPr sz="1100">
                          <a:solidFill>
                            <a:srgbClr val="0F172A"/>
                          </a:solidFill>
                        </a:rPr>
                        <a:t>Adaptation</a:t>
                      </a:r>
                    </a:p>
                  </a:txBody>
                  <a:tcPr>
                    <a:solidFill>
                      <a:srgbClr val="F0FDFA"/>
                    </a:solidFill>
                  </a:tcPr>
                </a:tc>
                <a:tc>
                  <a:txBody>
                    <a:bodyPr/>
                    <a:lstStyle/>
                    <a:p>
                      <a:r>
                        <a:rPr sz="1100">
                          <a:solidFill>
                            <a:srgbClr val="0F172A"/>
                          </a:solidFill>
                        </a:rPr>
                        <a:t>Infra exists, unused (0 rows)</a:t>
                      </a:r>
                    </a:p>
                  </a:txBody>
                  <a:tcPr>
                    <a:solidFill>
                      <a:srgbClr val="F0FDFA"/>
                    </a:solidFill>
                  </a:tcPr>
                </a:tc>
                <a:tc>
                  <a:txBody>
                    <a:bodyPr/>
                    <a:lstStyle/>
                    <a:p>
                      <a:r>
                        <a:rPr sz="1100">
                          <a:solidFill>
                            <a:srgbClr val="0F172A"/>
                          </a:solidFill>
                        </a:rPr>
                        <a:t>Wire up writes + explicit yes/no loop</a:t>
                      </a:r>
                    </a:p>
                  </a:txBody>
                  <a:tcPr>
                    <a:solidFill>
                      <a:srgbClr val="F0FDFA"/>
                    </a:solidFill>
                  </a:tcPr>
                </a:tc>
              </a:tr>
              <a:tr h="384048">
                <a:tc>
                  <a:txBody>
                    <a:bodyPr/>
                    <a:lstStyle/>
                    <a:p>
                      <a:r>
                        <a:rPr sz="1100">
                          <a:solidFill>
                            <a:srgbClr val="0F172A"/>
                          </a:solidFill>
                        </a:rPr>
                        <a:t>Recommendation (ResourceHub)</a:t>
                      </a:r>
                    </a:p>
                  </a:txBody>
                  <a:tcPr>
                    <a:solidFill>
                      <a:srgbClr val="FFFFFF"/>
                    </a:solidFill>
                  </a:tcPr>
                </a:tc>
                <a:tc>
                  <a:txBody>
                    <a:bodyPr/>
                    <a:lstStyle/>
                    <a:p>
                      <a:r>
                        <a:rPr sz="1100">
                          <a:solidFill>
                            <a:srgbClr val="0F172A"/>
                          </a:solidFill>
                        </a:rPr>
                        <a:t>Ratings are all seed data</a:t>
                      </a:r>
                    </a:p>
                  </a:txBody>
                  <a:tcPr>
                    <a:solidFill>
                      <a:srgbClr val="FFFFFF"/>
                    </a:solidFill>
                  </a:tcPr>
                </a:tc>
                <a:tc>
                  <a:txBody>
                    <a:bodyPr/>
                    <a:lstStyle/>
                    <a:p>
                      <a:r>
                        <a:rPr sz="1100">
                          <a:solidFill>
                            <a:srgbClr val="0F172A"/>
                          </a:solidFill>
                        </a:rPr>
                        <a:t>Get real users rating real resources</a:t>
                      </a:r>
                    </a:p>
                  </a:txBody>
                  <a:tcPr>
                    <a:solidFill>
                      <a:srgbClr val="FFFFFF"/>
                    </a:solidFill>
                  </a:tcPr>
                </a:tc>
              </a:tr>
              <a:tr h="384048">
                <a:tc>
                  <a:txBody>
                    <a:bodyPr/>
                    <a:lstStyle/>
                    <a:p>
                      <a:r>
                        <a:rPr sz="1100">
                          <a:solidFill>
                            <a:srgbClr val="0F172A"/>
                          </a:solidFill>
                        </a:rPr>
                        <a:t>Pattern (ResourceHub)</a:t>
                      </a:r>
                    </a:p>
                  </a:txBody>
                  <a:tcPr>
                    <a:solidFill>
                      <a:srgbClr val="F0FDFA"/>
                    </a:solidFill>
                  </a:tcPr>
                </a:tc>
                <a:tc>
                  <a:txBody>
                    <a:bodyPr/>
                    <a:lstStyle/>
                    <a:p>
                      <a:r>
                        <a:rPr sz="1100">
                          <a:solidFill>
                            <a:srgbClr val="0F172A"/>
                          </a:solidFill>
                        </a:rPr>
                        <a:t>Explained, expected</a:t>
                      </a:r>
                    </a:p>
                  </a:txBody>
                  <a:tcPr>
                    <a:solidFill>
                      <a:srgbClr val="F0FDFA"/>
                    </a:solidFill>
                  </a:tcPr>
                </a:tc>
                <a:tc>
                  <a:txBody>
                    <a:bodyPr/>
                    <a:lstStyle/>
                    <a:p>
                      <a:r>
                        <a:rPr sz="1100">
                          <a:solidFill>
                            <a:srgbClr val="0F172A"/>
                          </a:solidFill>
                        </a:rPr>
                        <a:t>More users with &gt;=2 barrier types (25)</a:t>
                      </a:r>
                    </a:p>
                  </a:txBody>
                  <a:tcPr>
                    <a:solidFill>
                      <a:srgbClr val="F0FDFA"/>
                    </a:solidFill>
                  </a:tcPr>
                </a:tc>
              </a:tr>
              <a:tr h="384048">
                <a:tc>
                  <a:txBody>
                    <a:bodyPr/>
                    <a:lstStyle/>
                    <a:p>
                      <a:r>
                        <a:rPr sz="1100">
                          <a:solidFill>
                            <a:srgbClr val="0F172A"/>
                          </a:solidFill>
                        </a:rPr>
                        <a:t>Validation (ResourceHub)</a:t>
                      </a:r>
                    </a:p>
                  </a:txBody>
                  <a:tcPr>
                    <a:solidFill>
                      <a:srgbClr val="FFFFFF"/>
                    </a:solidFill>
                  </a:tcPr>
                </a:tc>
                <a:tc>
                  <a:txBody>
                    <a:bodyPr/>
                    <a:lstStyle/>
                    <a:p>
                      <a:r>
                        <a:rPr sz="1100">
                          <a:solidFill>
                            <a:srgbClr val="0F172A"/>
                          </a:solidFill>
                        </a:rPr>
                        <a:t>No decision log yet</a:t>
                      </a:r>
                    </a:p>
                  </a:txBody>
                  <a:tcPr>
                    <a:solidFill>
                      <a:srgbClr val="FFFFFF"/>
                    </a:solidFill>
                  </a:tcPr>
                </a:tc>
                <a:tc>
                  <a:txBody>
                    <a:bodyPr/>
                    <a:lstStyle/>
                    <a:p>
                      <a:r>
                        <a:rPr sz="1100">
                          <a:solidFill>
                            <a:srgbClr val="0F172A"/>
                          </a:solidFill>
                        </a:rPr>
                        <a:t>Start logging to moderation_queue</a:t>
                      </a:r>
                    </a:p>
                  </a:txBody>
                  <a:tcPr>
                    <a:solidFill>
                      <a:srgbClr val="FFFFFF"/>
                    </a:solidFill>
                  </a:tcPr>
                </a:tc>
              </a:tr>
            </a:tbl>
          </a:graphicData>
        </a:graphic>
      </p:graphicFrame>
      <p:sp>
        <p:nvSpPr>
          <p:cNvPr id="6" name="Rectangle 5"/>
          <p:cNvSpPr/>
          <p:nvPr/>
        </p:nvSpPr>
        <p:spPr>
          <a:xfrm>
            <a:off x="548640" y="5623560"/>
            <a:ext cx="11155680" cy="914400"/>
          </a:xfrm>
          <a:prstGeom prst="rect">
            <a:avLst/>
          </a:prstGeom>
          <a:solidFill>
            <a:srgbClr val="F0FDFA"/>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0F766E"/>
                </a:solidFill>
                <a:latin typeface="Helvetica Neue"/>
              </a:rPr>
              <a:t>Most rows are queries against data we already have, or infrastructure that already exists and needs wiring up -- not new experiments. Both Pattern agents share the same root fix.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515600" cy="274320"/>
          </a:xfrm>
          <a:prstGeom prst="rect">
            <a:avLst/>
          </a:prstGeom>
          <a:noFill/>
        </p:spPr>
        <p:txBody>
          <a:bodyPr wrap="square">
            <a:spAutoFit/>
          </a:bodyPr>
          <a:lstStyle/>
          <a:p>
            <a:pPr algn="l">
              <a:spcAft>
                <a:spcPts val="600"/>
              </a:spcAft>
            </a:pPr>
            <a:r>
              <a:rPr sz="1200" b="1">
                <a:solidFill>
                  <a:srgbClr val="0F766E"/>
                </a:solidFill>
                <a:latin typeface="Helvetica Neue"/>
              </a:rPr>
              <a:t>CLOSE</a:t>
            </a:r>
          </a:p>
        </p:txBody>
      </p:sp>
      <p:sp>
        <p:nvSpPr>
          <p:cNvPr id="4" name="TextBox 3"/>
          <p:cNvSpPr txBox="1"/>
          <p:nvPr/>
        </p:nvSpPr>
        <p:spPr>
          <a:xfrm>
            <a:off x="548640" y="566928"/>
            <a:ext cx="11155680" cy="731520"/>
          </a:xfrm>
          <a:prstGeom prst="rect">
            <a:avLst/>
          </a:prstGeom>
          <a:noFill/>
        </p:spPr>
        <p:txBody>
          <a:bodyPr wrap="square">
            <a:spAutoFit/>
          </a:bodyPr>
          <a:lstStyle/>
          <a:p>
            <a:pPr algn="l">
              <a:spcAft>
                <a:spcPts val="600"/>
              </a:spcAft>
            </a:pPr>
            <a:r>
              <a:rPr sz="2800" b="1">
                <a:solidFill>
                  <a:srgbClr val="0F172A"/>
                </a:solidFill>
                <a:latin typeface="Helvetica Neue"/>
              </a:rPr>
              <a:t>What we need from this group</a:t>
            </a:r>
          </a:p>
        </p:txBody>
      </p:sp>
      <p:sp>
        <p:nvSpPr>
          <p:cNvPr id="5" name="Rectangle 4"/>
          <p:cNvSpPr/>
          <p:nvPr/>
        </p:nvSpPr>
        <p:spPr>
          <a:xfrm>
            <a:off x="548640" y="1645920"/>
            <a:ext cx="11155680" cy="1828800"/>
          </a:xfrm>
          <a:prstGeom prst="rect">
            <a:avLst/>
          </a:prstGeom>
          <a:solidFill>
            <a:srgbClr val="FFFBEB"/>
          </a:solidFill>
          <a:ln w="1587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a:solidFill>
                  <a:srgbClr val="78350F"/>
                </a:solidFill>
                <a:latin typeface="Helvetica Neue"/>
              </a:rPr>
              <a:t>October beta timing: hold ResourceHub's public launch to waitlist + feature demo only, OR move fast on data-compliance work, before going fully public for Autism Awareness Month.</a:t>
            </a:r>
          </a:p>
          <a:p>
            <a:r>
              <a:rPr sz="1300">
                <a:solidFill>
                  <a:srgbClr val="78350F"/>
                </a:solidFill>
                <a:latin typeface="Helvetica Neue"/>
              </a:rPr>
              <a:t>Sharper for ResourceHub specifically -- a community rating system scoring things like 'autism-friendliness' sits closer to the medical-device-classification line than the planning agents do.</a:t>
            </a:r>
          </a:p>
        </p:txBody>
      </p:sp>
      <p:sp>
        <p:nvSpPr>
          <p:cNvPr id="6" name="TextBox 5"/>
          <p:cNvSpPr txBox="1"/>
          <p:nvPr/>
        </p:nvSpPr>
        <p:spPr>
          <a:xfrm>
            <a:off x="548640" y="3840480"/>
            <a:ext cx="11155680" cy="1097280"/>
          </a:xfrm>
          <a:prstGeom prst="rect">
            <a:avLst/>
          </a:prstGeom>
          <a:noFill/>
        </p:spPr>
        <p:txBody>
          <a:bodyPr wrap="square">
            <a:spAutoFit/>
          </a:bodyPr>
          <a:lstStyle/>
          <a:p>
            <a:pPr algn="l">
              <a:spcAft>
                <a:spcPts val="600"/>
              </a:spcAft>
            </a:pPr>
            <a:r>
              <a:rPr sz="1300" b="0">
                <a:solidFill>
                  <a:srgbClr val="52525B"/>
                </a:solidFill>
                <a:latin typeface="Helvetica Neue"/>
              </a:rPr>
              <a:t>Everything in this deck is reproducible: backend/scripts/vector_evaluation_pull.py + vector_evaluation_pull_servicehub.py, plus every agent source file cited.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